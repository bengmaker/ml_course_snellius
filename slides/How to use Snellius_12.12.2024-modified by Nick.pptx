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8"/>
  </p:sldMasterIdLst>
  <p:notesMasterIdLst>
    <p:notesMasterId r:id="rId32"/>
  </p:notesMasterIdLst>
  <p:sldIdLst>
    <p:sldId id="256" r:id="rId9"/>
    <p:sldId id="279" r:id="rId10"/>
    <p:sldId id="1001014" r:id="rId11"/>
    <p:sldId id="2147482762" r:id="rId12"/>
    <p:sldId id="2147482763" r:id="rId13"/>
    <p:sldId id="2147482764" r:id="rId14"/>
    <p:sldId id="2147482765" r:id="rId15"/>
    <p:sldId id="2147482779" r:id="rId16"/>
    <p:sldId id="2147482768" r:id="rId17"/>
    <p:sldId id="2147482770" r:id="rId18"/>
    <p:sldId id="2147482769" r:id="rId19"/>
    <p:sldId id="2147482780" r:id="rId20"/>
    <p:sldId id="2147482767" r:id="rId21"/>
    <p:sldId id="2147482772" r:id="rId22"/>
    <p:sldId id="2147482771" r:id="rId23"/>
    <p:sldId id="2147482773" r:id="rId24"/>
    <p:sldId id="2147482774" r:id="rId25"/>
    <p:sldId id="2147482775" r:id="rId26"/>
    <p:sldId id="2147482782" r:id="rId27"/>
    <p:sldId id="2147482783" r:id="rId28"/>
    <p:sldId id="2147482777" r:id="rId29"/>
    <p:sldId id="2147482776" r:id="rId30"/>
    <p:sldId id="2147482778" r:id="rId31"/>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C81919"/>
    <a:srgbClr val="F5E7E7"/>
    <a:srgbClr val="C00000"/>
    <a:srgbClr val="0070C0"/>
    <a:srgbClr val="FFC000"/>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F65483-DC2F-4726-BCF6-52594B6CD150}" v="338" dt="2024-12-15T16:57:57.80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039" autoAdjust="0"/>
  </p:normalViewPr>
  <p:slideViewPr>
    <p:cSldViewPr snapToGrid="0">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heme" Target="theme/theme1.xml"/><Relationship Id="rId8" Type="http://schemas.openxmlformats.org/officeDocument/2006/relationships/slideMaster" Target="slideMasters/slideMaster1.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15/12/2024</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AA799BBE-B871-48D7-983C-C0B1D7156DCD}" type="slidenum">
              <a:rPr lang="en-GB" smtClean="0"/>
              <a:t>1</a:t>
            </a:fld>
            <a:endParaRPr lang="en-GB"/>
          </a:p>
        </p:txBody>
      </p:sp>
    </p:spTree>
    <p:extLst>
      <p:ext uri="{BB962C8B-B14F-4D97-AF65-F5344CB8AC3E}">
        <p14:creationId xmlns:p14="http://schemas.microsoft.com/office/powerpoint/2010/main" val="4110894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3254536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5A724-BCF7-8EBF-1728-186D5E5B1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BB995-580F-68C8-1A0C-EF61217CA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BEDBE-B83F-5CBE-FE94-A9DCEE2EF37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C48116EF-8F3B-411C-5B9D-93F2F6087AC8}"/>
              </a:ext>
            </a:extLst>
          </p:cNvPr>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3979862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3237645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FD18C-6409-E903-16E9-82F756BDA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1E067-7D48-C97A-204A-3D4629D5A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860CE-A2AC-D848-28B0-0BB2EB1C942C}"/>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C8BAF66A-F5BB-1E8E-F474-B7E7AAF221E0}"/>
              </a:ext>
            </a:extLst>
          </p:cNvPr>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4034157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This is an example of a 27 </a:t>
            </a:r>
            <a:r>
              <a:rPr lang="en-GB" err="1"/>
              <a:t>pt</a:t>
            </a:r>
            <a:r>
              <a:rPr lang="en-GB"/>
              <a:t> headline with 27 </a:t>
            </a:r>
            <a:r>
              <a:rPr lang="en-GB" err="1"/>
              <a:t>pt</a:t>
            </a:r>
            <a:r>
              <a:rPr lang="en-GB"/>
              <a:t> line spacing</a:t>
            </a:r>
          </a:p>
        </p:txBody>
      </p:sp>
      <p:sp>
        <p:nvSpPr>
          <p:cNvPr id="3" name="Content Placeholder 2"/>
          <p:cNvSpPr>
            <a:spLocks noGrp="1"/>
          </p:cNvSpPr>
          <p:nvPr>
            <p:ph idx="1" hasCustomPrompt="1"/>
          </p:nvPr>
        </p:nvSpPr>
        <p:spPr/>
        <p:txBody>
          <a:bodyPr/>
          <a:lstStyle>
            <a:lvl1pPr>
              <a:defRPr baseline="0"/>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a:t>This is an example of a 27 </a:t>
            </a:r>
            <a:r>
              <a:rPr lang="en-GB" err="1"/>
              <a:t>pt</a:t>
            </a:r>
            <a:r>
              <a:rPr lang="en-GB"/>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 27pt headline on a slide with three images</a:t>
            </a:r>
            <a:endParaRPr lang="en-GB"/>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a:p>
            <a:endParaRPr lang="en-GB"/>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a:p>
            <a:endParaRPr lang="en-GB"/>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a:p>
            <a:endParaRPr lang="en-GB"/>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a:t>This is an example of a 27 </a:t>
            </a:r>
            <a:r>
              <a:rPr lang="en-GB" err="1"/>
              <a:t>pt</a:t>
            </a:r>
            <a:r>
              <a:rPr lang="en-GB"/>
              <a:t> headline with 27 </a:t>
            </a:r>
            <a:r>
              <a:rPr lang="en-GB" err="1"/>
              <a:t>pt</a:t>
            </a:r>
            <a:r>
              <a:rPr lang="en-GB"/>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a:t>Sample slide with table and text</a:t>
            </a:r>
            <a:endParaRPr lang="en-GB"/>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alpha val="0"/>
          </a:srgbClr>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a:t>This is an example of a 27 </a:t>
            </a:r>
            <a:r>
              <a:rPr lang="en-GB" err="1"/>
              <a:t>pt</a:t>
            </a:r>
            <a:r>
              <a:rPr lang="en-GB"/>
              <a:t> headline with 27 </a:t>
            </a:r>
            <a:r>
              <a:rPr lang="en-GB" err="1"/>
              <a:t>pt</a:t>
            </a:r>
            <a:r>
              <a:rPr lang="en-GB"/>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err="1"/>
              <a:t>Klik</a:t>
            </a:r>
            <a:r>
              <a:rPr lang="en-GB"/>
              <a:t> om de </a:t>
            </a:r>
            <a:r>
              <a:rPr lang="en-GB" err="1"/>
              <a:t>modelstijlen</a:t>
            </a:r>
            <a:r>
              <a:rPr lang="en-GB"/>
              <a:t> </a:t>
            </a:r>
            <a:r>
              <a:rPr lang="en-GB" err="1"/>
              <a:t>te</a:t>
            </a:r>
            <a:r>
              <a:rPr lang="en-GB"/>
              <a:t> </a:t>
            </a:r>
            <a:r>
              <a:rPr lang="en-GB" err="1"/>
              <a:t>bewerken</a:t>
            </a:r>
            <a:endParaRPr lang="en-GB"/>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en-GB"/>
              <a:t>Title of the presentation - by tab Insert -&gt; Header text and Footer text</a:t>
            </a:r>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7.xml"/><Relationship Id="rId1" Type="http://schemas.openxmlformats.org/officeDocument/2006/relationships/customXml" Target="../../customXml/item6.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servicedesk.surf.nl/wiki/display/WIKI/Snellius" TargetMode="Externa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ondemand.snellius.surf.nl/pun/sys/dashboard" TargetMode="Externa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servicedesk.surf.nl/wiki/display/WIKI/Transfer+files+between+to+and+from+the+system#:~:text=Grid%20storage/%20dCache-,Transferring%20files%20using%20the%20terminal,-scp" TargetMode="Externa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hyperlink" Target="https://slurm.schedmd.com/sbatch.html" TargetMode="External"/><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hyperlink" Target="https://ondemand.snellius.surf.nl/" TargetMode="External"/><Relationship Id="rId7"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hyperlink" Target="https://gitlab.tue.nl/hpclab/courses/snellius-introduction.git" TargetMode="External"/><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hyperlink" Target="https://servicedesk.surf.nl/wiki/display/WIKI/Snellius+filesystems#:~:text=as%20mentioned%20above.-,The%20/scratch%2Dnode%20space%3A%20truly%20node%2Dlocal%20scratch,-On%20a%20subse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servicedesk.surf.nl/wiki/display/WIKI/Snellius+filesystems" TargetMode="Externa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hyperlink" Target="https://supercomputing.tue.nl/hpc-school/" TargetMode="External"/><Relationship Id="rId5" Type="http://schemas.openxmlformats.org/officeDocument/2006/relationships/hyperlink" Target="https://www.fz-juelich.de/en/rse/the_latest/the-anaconda-is-squeezing-us" TargetMode="External"/><Relationship Id="rId4" Type="http://schemas.openxmlformats.org/officeDocument/2006/relationships/hyperlink" Target="https://servicedesk.surf.nl/wiki/display/WIKI/Available+datasets+and+models+on+Snelliu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hyperlink" Target="https://supercomputing.tue.nl/" TargetMode="Externa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0000">
            <a:alpha val="0"/>
          </a:srgb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C6B892-4DC0-BC04-0D01-7B775AACB378}"/>
              </a:ext>
            </a:extLst>
          </p:cNvPr>
          <p:cNvSpPr>
            <a:spLocks noGrp="1"/>
          </p:cNvSpPr>
          <p:nvPr>
            <p:ph type="ctrTitle"/>
          </p:nvPr>
        </p:nvSpPr>
        <p:spPr>
          <a:xfrm>
            <a:off x="-17551" y="712166"/>
            <a:ext cx="9143999" cy="1010407"/>
          </a:xfrm>
          <a:solidFill>
            <a:srgbClr val="C81919"/>
          </a:solidFill>
        </p:spPr>
        <p:txBody>
          <a:bodyPr/>
          <a:lstStyle/>
          <a:p>
            <a:r>
              <a:rPr lang="nl-NL" sz="3200" dirty="0"/>
              <a:t>How </a:t>
            </a:r>
            <a:r>
              <a:rPr lang="nl-NL" sz="3200" dirty="0" err="1"/>
              <a:t>to</a:t>
            </a:r>
            <a:r>
              <a:rPr lang="nl-NL" sz="3200" dirty="0"/>
              <a:t> </a:t>
            </a:r>
            <a:r>
              <a:rPr lang="nl-NL" sz="3200" dirty="0" err="1"/>
              <a:t>use</a:t>
            </a:r>
            <a:r>
              <a:rPr lang="nl-NL" sz="3200" dirty="0"/>
              <a:t> </a:t>
            </a:r>
            <a:r>
              <a:rPr lang="nl-NL" sz="3200" dirty="0" err="1"/>
              <a:t>Snellius</a:t>
            </a:r>
            <a:endParaRPr lang="nl-NL" sz="3200" dirty="0"/>
          </a:p>
        </p:txBody>
      </p:sp>
      <p:sp>
        <p:nvSpPr>
          <p:cNvPr id="5" name="Tijdelijke aanduiding voor tekst 4">
            <a:extLst>
              <a:ext uri="{FF2B5EF4-FFF2-40B4-BE49-F238E27FC236}">
                <a16:creationId xmlns:a16="http://schemas.microsoft.com/office/drawing/2014/main" id="{A06D85EB-7831-50D4-24F1-6A7517F9C075}"/>
              </a:ext>
            </a:extLst>
          </p:cNvPr>
          <p:cNvSpPr>
            <a:spLocks noGrp="1"/>
          </p:cNvSpPr>
          <p:nvPr>
            <p:ph type="body" sz="quarter" idx="14"/>
          </p:nvPr>
        </p:nvSpPr>
        <p:spPr>
          <a:xfrm>
            <a:off x="-1" y="4567238"/>
            <a:ext cx="7347267" cy="576262"/>
          </a:xfrm>
        </p:spPr>
        <p:txBody>
          <a:bodyPr/>
          <a:lstStyle/>
          <a:p>
            <a:r>
              <a:rPr lang="nl-NL" dirty="0"/>
              <a:t> </a:t>
            </a:r>
          </a:p>
        </p:txBody>
      </p:sp>
      <p:sp>
        <p:nvSpPr>
          <p:cNvPr id="7" name="TextBox 6">
            <a:extLst>
              <a:ext uri="{FF2B5EF4-FFF2-40B4-BE49-F238E27FC236}">
                <a16:creationId xmlns:a16="http://schemas.microsoft.com/office/drawing/2014/main" id="{84FA77AC-8280-21B1-5E34-A2AB18DD9358}"/>
              </a:ext>
            </a:extLst>
          </p:cNvPr>
          <p:cNvSpPr txBox="1"/>
          <p:nvPr/>
        </p:nvSpPr>
        <p:spPr>
          <a:xfrm>
            <a:off x="7905750" y="4205938"/>
            <a:ext cx="1054100" cy="307777"/>
          </a:xfrm>
          <a:prstGeom prst="rect">
            <a:avLst/>
          </a:prstGeom>
          <a:noFill/>
        </p:spPr>
        <p:txBody>
          <a:bodyPr wrap="square">
            <a:spAutoFit/>
          </a:bodyPr>
          <a:lstStyle/>
          <a:p>
            <a:r>
              <a:rPr lang="nl-NL" sz="1400" dirty="0">
                <a:solidFill>
                  <a:schemeClr val="bg1"/>
                </a:solidFill>
              </a:rPr>
              <a:t>12/12/2024</a:t>
            </a:r>
            <a:endParaRPr lang="LID4096" dirty="0">
              <a:solidFill>
                <a:schemeClr val="bg1"/>
              </a:solidFill>
            </a:endParaRPr>
          </a:p>
        </p:txBody>
      </p:sp>
      <p:pic>
        <p:nvPicPr>
          <p:cNvPr id="9" name="Picture 2" descr="NWO kent zes aanvragen toe voor Rekentijd op de Nationale Computersystemen  | NWO">
            <a:extLst>
              <a:ext uri="{FF2B5EF4-FFF2-40B4-BE49-F238E27FC236}">
                <a16:creationId xmlns:a16="http://schemas.microsoft.com/office/drawing/2014/main" id="{0130BF34-01D4-05EC-C60C-A0794772E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8714" y="1836057"/>
            <a:ext cx="2910875" cy="2595277"/>
          </a:xfrm>
          <a:prstGeom prst="rect">
            <a:avLst/>
          </a:prstGeom>
          <a:noFill/>
          <a:extLst>
            <a:ext uri="{909E8E84-426E-40DD-AFC4-6F175D3DCCD1}">
              <a14:hiddenFill xmlns:a14="http://schemas.microsoft.com/office/drawing/2010/main">
                <a:solidFill>
                  <a:srgbClr val="FFFFFF"/>
                </a:solidFill>
              </a14:hiddenFill>
            </a:ext>
          </a:extLst>
        </p:spPr>
      </p:pic>
      <p:sp>
        <p:nvSpPr>
          <p:cNvPr id="4" name="Tijdelijke aanduiding voor tekst 3">
            <a:extLst>
              <a:ext uri="{FF2B5EF4-FFF2-40B4-BE49-F238E27FC236}">
                <a16:creationId xmlns:a16="http://schemas.microsoft.com/office/drawing/2014/main" id="{B82EEB68-5C83-2892-52A1-402A98C1FEB6}"/>
              </a:ext>
            </a:extLst>
          </p:cNvPr>
          <p:cNvSpPr>
            <a:spLocks noGrp="1"/>
          </p:cNvSpPr>
          <p:nvPr>
            <p:ph type="body" sz="quarter" idx="13"/>
          </p:nvPr>
        </p:nvSpPr>
        <p:spPr>
          <a:xfrm>
            <a:off x="-17551" y="4125497"/>
            <a:ext cx="9143999" cy="722602"/>
          </a:xfrm>
          <a:solidFill>
            <a:srgbClr val="000000">
              <a:alpha val="0"/>
            </a:srgbClr>
          </a:solidFill>
        </p:spPr>
        <p:txBody>
          <a:bodyPr/>
          <a:lstStyle/>
          <a:p>
            <a:r>
              <a:rPr lang="nl-NL" sz="1800" dirty="0">
                <a:solidFill>
                  <a:schemeClr val="tx1"/>
                </a:solidFill>
                <a:cs typeface="Calibri"/>
              </a:rPr>
              <a:t>Hengjian Zhang</a:t>
            </a:r>
          </a:p>
          <a:p>
            <a:r>
              <a:rPr lang="nl-NL" sz="1800" dirty="0">
                <a:solidFill>
                  <a:schemeClr val="tx1"/>
                </a:solidFill>
              </a:rPr>
              <a:t>TU/e Supercomputing Center</a:t>
            </a:r>
          </a:p>
        </p:txBody>
      </p:sp>
      <p:pic>
        <p:nvPicPr>
          <p:cNvPr id="1026" name="Picture 2">
            <a:extLst>
              <a:ext uri="{FF2B5EF4-FFF2-40B4-BE49-F238E27FC236}">
                <a16:creationId xmlns:a16="http://schemas.microsoft.com/office/drawing/2014/main" id="{A287EE66-79C5-4285-8F15-3CD49E9FF3F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237" y="4195042"/>
            <a:ext cx="632012" cy="632012"/>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 r:id="rId2"/>
    </p:custDataLst>
    <p:extLst>
      <p:ext uri="{BB962C8B-B14F-4D97-AF65-F5344CB8AC3E}">
        <p14:creationId xmlns:p14="http://schemas.microsoft.com/office/powerpoint/2010/main" val="67951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F736FE-AE4C-9D19-6ECA-E18989A40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1A0A2-D788-2677-478F-D606A23CB446}"/>
              </a:ext>
            </a:extLst>
          </p:cNvPr>
          <p:cNvSpPr>
            <a:spLocks noGrp="1"/>
          </p:cNvSpPr>
          <p:nvPr>
            <p:ph type="title"/>
          </p:nvPr>
        </p:nvSpPr>
        <p:spPr>
          <a:xfrm>
            <a:off x="405534" y="406487"/>
            <a:ext cx="8738466" cy="718462"/>
          </a:xfrm>
        </p:spPr>
        <p:txBody>
          <a:bodyPr/>
          <a:lstStyle/>
          <a:p>
            <a:r>
              <a:rPr lang="en-US" sz="4000" b="1" i="0" dirty="0">
                <a:solidFill>
                  <a:srgbClr val="000000"/>
                </a:solidFill>
                <a:effectLst/>
                <a:latin typeface="+mn-lt"/>
              </a:rPr>
              <a:t>Agenda</a:t>
            </a:r>
            <a:endParaRPr lang="nl-NL" sz="4000" dirty="0">
              <a:latin typeface="+mn-lt"/>
            </a:endParaRPr>
          </a:p>
        </p:txBody>
      </p:sp>
      <p:sp>
        <p:nvSpPr>
          <p:cNvPr id="5" name="Slide Number Placeholder 4">
            <a:extLst>
              <a:ext uri="{FF2B5EF4-FFF2-40B4-BE49-F238E27FC236}">
                <a16:creationId xmlns:a16="http://schemas.microsoft.com/office/drawing/2014/main" id="{5F754C74-2486-ED2C-3F31-54DEF526B273}"/>
              </a:ext>
            </a:extLst>
          </p:cNvPr>
          <p:cNvSpPr>
            <a:spLocks noGrp="1"/>
          </p:cNvSpPr>
          <p:nvPr>
            <p:ph type="sldNum" sz="quarter" idx="12"/>
          </p:nvPr>
        </p:nvSpPr>
        <p:spPr/>
        <p:txBody>
          <a:bodyPr/>
          <a:lstStyle/>
          <a:p>
            <a:r>
              <a:rPr lang="en-GB" dirty="0"/>
              <a:t> </a:t>
            </a:r>
          </a:p>
        </p:txBody>
      </p:sp>
      <p:sp>
        <p:nvSpPr>
          <p:cNvPr id="3" name="Title 1">
            <a:extLst>
              <a:ext uri="{FF2B5EF4-FFF2-40B4-BE49-F238E27FC236}">
                <a16:creationId xmlns:a16="http://schemas.microsoft.com/office/drawing/2014/main" id="{03CD82AC-2BC1-C2A1-0C3B-39F31289ED61}"/>
              </a:ext>
            </a:extLst>
          </p:cNvPr>
          <p:cNvSpPr txBox="1">
            <a:spLocks/>
          </p:cNvSpPr>
          <p:nvPr/>
        </p:nvSpPr>
        <p:spPr>
          <a:xfrm>
            <a:off x="311295" y="794795"/>
            <a:ext cx="8521409" cy="3942218"/>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342900" indent="-342900">
              <a:buFont typeface="Arial" panose="020B0604020202020204" pitchFamily="34" charset="0"/>
              <a:buChar char="•"/>
            </a:pPr>
            <a:endParaRPr lang="en-US" sz="2000" u="sng" dirty="0">
              <a:solidFill>
                <a:srgbClr val="000000"/>
              </a:solidFill>
              <a:latin typeface="NVIDIA-NALA"/>
            </a:endParaRPr>
          </a:p>
          <a:p>
            <a:endParaRPr lang="en-US" sz="2000" dirty="0">
              <a:solidFill>
                <a:srgbClr val="000000"/>
              </a:solidFill>
              <a:latin typeface="NVIDIA-NALA"/>
            </a:endParaRPr>
          </a:p>
          <a:p>
            <a:endParaRPr lang="en-US" dirty="0">
              <a:solidFill>
                <a:srgbClr val="000000"/>
              </a:solidFill>
              <a:latin typeface="NVIDIA-NALA"/>
            </a:endParaRPr>
          </a:p>
          <a:p>
            <a:endParaRPr lang="en-US" dirty="0">
              <a:solidFill>
                <a:srgbClr val="000000"/>
              </a:solidFill>
              <a:latin typeface="NVIDIA-NALA"/>
            </a:endParaRPr>
          </a:p>
          <a:p>
            <a:br>
              <a:rPr lang="en-US" dirty="0">
                <a:solidFill>
                  <a:srgbClr val="000000"/>
                </a:solidFill>
                <a:latin typeface="NVIDIA-NALA"/>
              </a:rPr>
            </a:br>
            <a:endParaRPr lang="nl-NL" dirty="0"/>
          </a:p>
        </p:txBody>
      </p:sp>
      <p:sp>
        <p:nvSpPr>
          <p:cNvPr id="4" name="TextBox 3">
            <a:extLst>
              <a:ext uri="{FF2B5EF4-FFF2-40B4-BE49-F238E27FC236}">
                <a16:creationId xmlns:a16="http://schemas.microsoft.com/office/drawing/2014/main" id="{88399A1C-2B88-9E24-FF25-B602637DF6EA}"/>
              </a:ext>
            </a:extLst>
          </p:cNvPr>
          <p:cNvSpPr txBox="1"/>
          <p:nvPr/>
        </p:nvSpPr>
        <p:spPr>
          <a:xfrm>
            <a:off x="691375" y="977098"/>
            <a:ext cx="7330068" cy="38472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t>Introduction to </a:t>
            </a:r>
            <a:r>
              <a:rPr lang="en-US" sz="2400" dirty="0" err="1"/>
              <a:t>Snellius</a:t>
            </a:r>
            <a:endParaRPr lang="en-US" sz="2400" dirty="0"/>
          </a:p>
          <a:p>
            <a:pPr marL="285750" indent="-285750">
              <a:lnSpc>
                <a:spcPct val="150000"/>
              </a:lnSpc>
              <a:buFont typeface="Arial" panose="020B0604020202020204" pitchFamily="34" charset="0"/>
              <a:buChar char="•"/>
            </a:pPr>
            <a:r>
              <a:rPr lang="en-US" sz="2400" dirty="0"/>
              <a:t>Access to </a:t>
            </a:r>
            <a:r>
              <a:rPr lang="en-US" sz="2400" dirty="0" err="1"/>
              <a:t>Snellius</a:t>
            </a:r>
            <a:endParaRPr lang="en-US" sz="2400" dirty="0"/>
          </a:p>
          <a:p>
            <a:pPr marL="285750" indent="-285750">
              <a:lnSpc>
                <a:spcPct val="150000"/>
              </a:lnSpc>
              <a:buFont typeface="Arial" panose="020B0604020202020204" pitchFamily="34" charset="0"/>
              <a:buChar char="•"/>
            </a:pPr>
            <a:r>
              <a:rPr lang="en-US" sz="2400" dirty="0"/>
              <a:t>Data transfer</a:t>
            </a:r>
          </a:p>
          <a:p>
            <a:pPr marL="285750" indent="-285750">
              <a:lnSpc>
                <a:spcPct val="150000"/>
              </a:lnSpc>
              <a:buFont typeface="Arial" panose="020B0604020202020204" pitchFamily="34" charset="0"/>
              <a:buChar char="•"/>
            </a:pPr>
            <a:r>
              <a:rPr lang="en-US" sz="2400" dirty="0"/>
              <a:t>Use of </a:t>
            </a:r>
            <a:r>
              <a:rPr lang="en-US" sz="2400" dirty="0" err="1"/>
              <a:t>liabrary</a:t>
            </a:r>
            <a:endParaRPr lang="en-US" sz="2400" dirty="0"/>
          </a:p>
          <a:p>
            <a:pPr marL="285750" indent="-285750">
              <a:lnSpc>
                <a:spcPct val="150000"/>
              </a:lnSpc>
              <a:buFont typeface="Arial" panose="020B0604020202020204" pitchFamily="34" charset="0"/>
              <a:buChar char="•"/>
            </a:pPr>
            <a:r>
              <a:rPr lang="en-US" sz="2400" dirty="0"/>
              <a:t>Submit your jobs on </a:t>
            </a:r>
            <a:r>
              <a:rPr lang="en-US" sz="2400" dirty="0" err="1"/>
              <a:t>Snellius</a:t>
            </a:r>
            <a:endParaRPr lang="en-US" sz="2400" dirty="0"/>
          </a:p>
          <a:p>
            <a:pPr marL="285750" indent="-285750">
              <a:lnSpc>
                <a:spcPct val="150000"/>
              </a:lnSpc>
              <a:buFont typeface="Arial" panose="020B0604020202020204" pitchFamily="34" charset="0"/>
              <a:buChar char="•"/>
            </a:pPr>
            <a:r>
              <a:rPr lang="en-US" sz="2400" dirty="0"/>
              <a:t>Further learning</a:t>
            </a:r>
          </a:p>
          <a:p>
            <a:pPr marL="285750" indent="-285750">
              <a:buFont typeface="Arial" panose="020B0604020202020204" pitchFamily="34" charset="0"/>
              <a:buChar char="•"/>
            </a:pPr>
            <a:endParaRPr lang="en-NL" sz="2800" dirty="0"/>
          </a:p>
        </p:txBody>
      </p:sp>
    </p:spTree>
    <p:extLst>
      <p:ext uri="{BB962C8B-B14F-4D97-AF65-F5344CB8AC3E}">
        <p14:creationId xmlns:p14="http://schemas.microsoft.com/office/powerpoint/2010/main" val="281673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E06C4-7D4E-1652-6329-2A5A12604064}"/>
              </a:ext>
            </a:extLst>
          </p:cNvPr>
          <p:cNvSpPr>
            <a:spLocks noGrp="1"/>
          </p:cNvSpPr>
          <p:nvPr>
            <p:ph type="title"/>
          </p:nvPr>
        </p:nvSpPr>
        <p:spPr>
          <a:xfrm>
            <a:off x="311295" y="330775"/>
            <a:ext cx="8738466" cy="469325"/>
          </a:xfrm>
        </p:spPr>
        <p:txBody>
          <a:bodyPr/>
          <a:lstStyle/>
          <a:p>
            <a:r>
              <a:rPr lang="en-US" b="1" i="0" dirty="0">
                <a:solidFill>
                  <a:srgbClr val="000000"/>
                </a:solidFill>
                <a:effectLst/>
                <a:latin typeface="NVIDIA-NALA"/>
              </a:rPr>
              <a:t>Introduction to </a:t>
            </a:r>
            <a:r>
              <a:rPr lang="en-US" b="1" i="0" dirty="0" err="1">
                <a:solidFill>
                  <a:srgbClr val="000000"/>
                </a:solidFill>
                <a:effectLst/>
                <a:latin typeface="NVIDIA-NALA"/>
              </a:rPr>
              <a:t>Snellius</a:t>
            </a:r>
            <a:endParaRPr lang="nl-NL" dirty="0"/>
          </a:p>
        </p:txBody>
      </p:sp>
      <p:sp>
        <p:nvSpPr>
          <p:cNvPr id="5" name="Slide Number Placeholder 4">
            <a:extLst>
              <a:ext uri="{FF2B5EF4-FFF2-40B4-BE49-F238E27FC236}">
                <a16:creationId xmlns:a16="http://schemas.microsoft.com/office/drawing/2014/main" id="{062C8320-5F69-29A1-F47D-59C7A257FC57}"/>
              </a:ext>
            </a:extLst>
          </p:cNvPr>
          <p:cNvSpPr>
            <a:spLocks noGrp="1"/>
          </p:cNvSpPr>
          <p:nvPr>
            <p:ph type="sldNum" sz="quarter" idx="12"/>
          </p:nvPr>
        </p:nvSpPr>
        <p:spPr/>
        <p:txBody>
          <a:bodyPr/>
          <a:lstStyle/>
          <a:p>
            <a:r>
              <a:rPr lang="en-GB"/>
              <a:t> </a:t>
            </a:r>
            <a:endParaRPr lang="en-GB" dirty="0"/>
          </a:p>
        </p:txBody>
      </p:sp>
      <p:sp>
        <p:nvSpPr>
          <p:cNvPr id="3" name="Title 1">
            <a:extLst>
              <a:ext uri="{FF2B5EF4-FFF2-40B4-BE49-F238E27FC236}">
                <a16:creationId xmlns:a16="http://schemas.microsoft.com/office/drawing/2014/main" id="{F95542AA-D8A8-ACA3-0419-C01688D1D211}"/>
              </a:ext>
            </a:extLst>
          </p:cNvPr>
          <p:cNvSpPr txBox="1">
            <a:spLocks/>
          </p:cNvSpPr>
          <p:nvPr/>
        </p:nvSpPr>
        <p:spPr>
          <a:xfrm>
            <a:off x="311295" y="1064602"/>
            <a:ext cx="6492917" cy="3942218"/>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r>
              <a:rPr lang="en-US" sz="1800" b="0" dirty="0" err="1">
                <a:solidFill>
                  <a:srgbClr val="000000"/>
                </a:solidFill>
                <a:latin typeface="+mn-lt"/>
              </a:rPr>
              <a:t>Snellius</a:t>
            </a:r>
            <a:r>
              <a:rPr lang="en-US" sz="1800" b="0" dirty="0">
                <a:solidFill>
                  <a:srgbClr val="000000"/>
                </a:solidFill>
                <a:latin typeface="+mn-lt"/>
              </a:rPr>
              <a:t> is the Dutch National supercomputer hosted at SURF. </a:t>
            </a:r>
          </a:p>
          <a:p>
            <a:r>
              <a:rPr lang="en-US" sz="1800" b="0" dirty="0">
                <a:solidFill>
                  <a:srgbClr val="000000"/>
                </a:solidFill>
                <a:latin typeface="+mn-lt"/>
              </a:rPr>
              <a:t>A detailed description of the system can be found in the SURF </a:t>
            </a:r>
            <a:r>
              <a:rPr lang="en-US" sz="1800" b="0" dirty="0">
                <a:solidFill>
                  <a:srgbClr val="000000"/>
                </a:solidFill>
                <a:latin typeface="+mn-lt"/>
                <a:hlinkClick r:id="rId2"/>
              </a:rPr>
              <a:t>wiki</a:t>
            </a:r>
            <a:r>
              <a:rPr lang="en-US" sz="1800" b="0" dirty="0">
                <a:solidFill>
                  <a:srgbClr val="000000"/>
                </a:solidFill>
                <a:latin typeface="+mn-lt"/>
              </a:rPr>
              <a:t>.</a:t>
            </a:r>
          </a:p>
          <a:p>
            <a:endParaRPr lang="en-US" sz="2000" b="0" dirty="0">
              <a:solidFill>
                <a:srgbClr val="000000"/>
              </a:solidFill>
              <a:latin typeface="+mn-lt"/>
            </a:endParaRPr>
          </a:p>
          <a:p>
            <a:endParaRPr lang="en-US" dirty="0">
              <a:solidFill>
                <a:srgbClr val="000000"/>
              </a:solidFill>
              <a:latin typeface="NVIDIA-NALA"/>
            </a:endParaRPr>
          </a:p>
          <a:p>
            <a:endParaRPr lang="en-US" dirty="0">
              <a:solidFill>
                <a:srgbClr val="000000"/>
              </a:solidFill>
              <a:latin typeface="NVIDIA-NALA"/>
            </a:endParaRPr>
          </a:p>
          <a:p>
            <a:br>
              <a:rPr lang="en-US" dirty="0">
                <a:solidFill>
                  <a:srgbClr val="000000"/>
                </a:solidFill>
                <a:latin typeface="NVIDIA-NALA"/>
              </a:rPr>
            </a:br>
            <a:endParaRPr lang="nl-NL" dirty="0"/>
          </a:p>
        </p:txBody>
      </p:sp>
      <p:pic>
        <p:nvPicPr>
          <p:cNvPr id="2052" name="Picture 4" descr="Portret van Willebrord Snel van Royen">
            <a:extLst>
              <a:ext uri="{FF2B5EF4-FFF2-40B4-BE49-F238E27FC236}">
                <a16:creationId xmlns:a16="http://schemas.microsoft.com/office/drawing/2014/main" id="{A86E3BF9-94FE-EF2C-E4D3-993B1BAD8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7926" y="1064602"/>
            <a:ext cx="2030948" cy="26275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B73CF54-39D7-E76D-320A-99565A141A4E}"/>
              </a:ext>
            </a:extLst>
          </p:cNvPr>
          <p:cNvPicPr>
            <a:picLocks noChangeAspect="1"/>
          </p:cNvPicPr>
          <p:nvPr/>
        </p:nvPicPr>
        <p:blipFill>
          <a:blip r:embed="rId4"/>
          <a:stretch>
            <a:fillRect/>
          </a:stretch>
        </p:blipFill>
        <p:spPr>
          <a:xfrm>
            <a:off x="352189" y="2197278"/>
            <a:ext cx="4897220" cy="2757963"/>
          </a:xfrm>
          <a:prstGeom prst="rect">
            <a:avLst/>
          </a:prstGeom>
        </p:spPr>
      </p:pic>
    </p:spTree>
    <p:extLst>
      <p:ext uri="{BB962C8B-B14F-4D97-AF65-F5344CB8AC3E}">
        <p14:creationId xmlns:p14="http://schemas.microsoft.com/office/powerpoint/2010/main" val="254005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F8289-FAFA-4D22-9FDC-36641AB7B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3B1A0-0FF7-4BBD-D7B3-A7B052154230}"/>
              </a:ext>
            </a:extLst>
          </p:cNvPr>
          <p:cNvSpPr>
            <a:spLocks noGrp="1"/>
          </p:cNvSpPr>
          <p:nvPr>
            <p:ph type="title"/>
          </p:nvPr>
        </p:nvSpPr>
        <p:spPr>
          <a:xfrm>
            <a:off x="758825" y="518711"/>
            <a:ext cx="7556500" cy="539038"/>
          </a:xfrm>
        </p:spPr>
        <p:txBody>
          <a:bodyPr anchor="t">
            <a:normAutofit/>
          </a:bodyPr>
          <a:lstStyle/>
          <a:p>
            <a:r>
              <a:rPr lang="en-US" b="1" i="0" dirty="0">
                <a:effectLst/>
              </a:rPr>
              <a:t>What is a supercomputer?</a:t>
            </a:r>
            <a:endParaRPr lang="nl-NL" dirty="0"/>
          </a:p>
        </p:txBody>
      </p:sp>
      <p:pic>
        <p:nvPicPr>
          <p:cNvPr id="10" name="Picture 9">
            <a:extLst>
              <a:ext uri="{FF2B5EF4-FFF2-40B4-BE49-F238E27FC236}">
                <a16:creationId xmlns:a16="http://schemas.microsoft.com/office/drawing/2014/main" id="{474845EC-45A2-4ABB-429C-8E97675E481E}"/>
              </a:ext>
            </a:extLst>
          </p:cNvPr>
          <p:cNvPicPr>
            <a:picLocks noChangeAspect="1"/>
          </p:cNvPicPr>
          <p:nvPr/>
        </p:nvPicPr>
        <p:blipFill>
          <a:blip r:embed="rId2"/>
          <a:stretch>
            <a:fillRect/>
          </a:stretch>
        </p:blipFill>
        <p:spPr>
          <a:xfrm>
            <a:off x="1289898" y="1306642"/>
            <a:ext cx="6494352" cy="2922458"/>
          </a:xfrm>
          <a:prstGeom prst="rect">
            <a:avLst/>
          </a:prstGeom>
          <a:noFill/>
        </p:spPr>
      </p:pic>
      <p:sp>
        <p:nvSpPr>
          <p:cNvPr id="15" name="Footer Placeholder 3">
            <a:extLst>
              <a:ext uri="{FF2B5EF4-FFF2-40B4-BE49-F238E27FC236}">
                <a16:creationId xmlns:a16="http://schemas.microsoft.com/office/drawing/2014/main" id="{C289505A-3481-66E8-ADBB-C56897B20997}"/>
              </a:ext>
            </a:extLst>
          </p:cNvPr>
          <p:cNvSpPr>
            <a:spLocks noGrp="1"/>
          </p:cNvSpPr>
          <p:nvPr>
            <p:ph type="ftr" sz="quarter" idx="11"/>
          </p:nvPr>
        </p:nvSpPr>
        <p:spPr>
          <a:xfrm>
            <a:off x="1114426" y="4568400"/>
            <a:ext cx="7042149" cy="576000"/>
          </a:xfrm>
        </p:spPr>
        <p:txBody>
          <a:bodyPr/>
          <a:lstStyle/>
          <a:p>
            <a:pPr>
              <a:spcAft>
                <a:spcPts val="600"/>
              </a:spcAft>
            </a:pPr>
            <a:r>
              <a:rPr lang="en-GB" dirty="0"/>
              <a:t>Supercomputer/High Performance Computer (HPC) = a</a:t>
            </a:r>
            <a:r>
              <a:rPr lang="en-US" dirty="0"/>
              <a:t> cluster of big computers (servers/nodes)</a:t>
            </a:r>
            <a:endParaRPr lang="en-GB" dirty="0"/>
          </a:p>
        </p:txBody>
      </p:sp>
      <p:sp>
        <p:nvSpPr>
          <p:cNvPr id="5" name="Slide Number Placeholder 4">
            <a:extLst>
              <a:ext uri="{FF2B5EF4-FFF2-40B4-BE49-F238E27FC236}">
                <a16:creationId xmlns:a16="http://schemas.microsoft.com/office/drawing/2014/main" id="{8B99682D-4FB4-0817-D76E-1221C52B99CE}"/>
              </a:ext>
            </a:extLst>
          </p:cNvPr>
          <p:cNvSpPr>
            <a:spLocks noGrp="1"/>
          </p:cNvSpPr>
          <p:nvPr>
            <p:ph type="sldNum" sz="quarter" idx="12"/>
          </p:nvPr>
        </p:nvSpPr>
        <p:spPr>
          <a:xfrm>
            <a:off x="2" y="4568400"/>
            <a:ext cx="1114424" cy="572286"/>
          </a:xfrm>
        </p:spPr>
        <p:txBody>
          <a:bodyPr anchor="ctr">
            <a:normAutofit/>
          </a:bodyPr>
          <a:lstStyle/>
          <a:p>
            <a:pPr>
              <a:spcAft>
                <a:spcPts val="600"/>
              </a:spcAft>
            </a:pPr>
            <a:r>
              <a:rPr lang="en-GB"/>
              <a:t> </a:t>
            </a:r>
          </a:p>
        </p:txBody>
      </p:sp>
      <p:sp>
        <p:nvSpPr>
          <p:cNvPr id="11" name="TextBox 10">
            <a:extLst>
              <a:ext uri="{FF2B5EF4-FFF2-40B4-BE49-F238E27FC236}">
                <a16:creationId xmlns:a16="http://schemas.microsoft.com/office/drawing/2014/main" id="{58263840-B78C-FB55-56EC-AE254C8449F5}"/>
              </a:ext>
            </a:extLst>
          </p:cNvPr>
          <p:cNvSpPr txBox="1"/>
          <p:nvPr/>
        </p:nvSpPr>
        <p:spPr>
          <a:xfrm>
            <a:off x="6064623" y="4223427"/>
            <a:ext cx="2353235" cy="246221"/>
          </a:xfrm>
          <a:prstGeom prst="rect">
            <a:avLst/>
          </a:prstGeom>
          <a:noFill/>
        </p:spPr>
        <p:txBody>
          <a:bodyPr wrap="square" rtlCol="0">
            <a:spAutoFit/>
          </a:bodyPr>
          <a:lstStyle/>
          <a:p>
            <a:r>
              <a:rPr lang="en-US" sz="1000" dirty="0"/>
              <a:t>Credits: SURF team</a:t>
            </a:r>
            <a:endParaRPr lang="LID4096" sz="1000" dirty="0"/>
          </a:p>
        </p:txBody>
      </p:sp>
    </p:spTree>
    <p:extLst>
      <p:ext uri="{BB962C8B-B14F-4D97-AF65-F5344CB8AC3E}">
        <p14:creationId xmlns:p14="http://schemas.microsoft.com/office/powerpoint/2010/main" val="93138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A307-6119-A5FC-307D-D5ABAAA40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B1250-F803-A59D-460B-872AEA19FC7B}"/>
              </a:ext>
            </a:extLst>
          </p:cNvPr>
          <p:cNvSpPr>
            <a:spLocks noGrp="1"/>
          </p:cNvSpPr>
          <p:nvPr>
            <p:ph type="title"/>
          </p:nvPr>
        </p:nvSpPr>
        <p:spPr>
          <a:xfrm>
            <a:off x="758825" y="518400"/>
            <a:ext cx="7556500" cy="733827"/>
          </a:xfrm>
        </p:spPr>
        <p:txBody>
          <a:bodyPr anchor="t">
            <a:normAutofit/>
          </a:bodyPr>
          <a:lstStyle/>
          <a:p>
            <a:r>
              <a:rPr lang="en-US" dirty="0"/>
              <a:t>Using a supercomputer</a:t>
            </a:r>
            <a:endParaRPr lang="nl-NL" dirty="0"/>
          </a:p>
        </p:txBody>
      </p:sp>
      <p:sp>
        <p:nvSpPr>
          <p:cNvPr id="5" name="Slide Number Placeholder 4">
            <a:extLst>
              <a:ext uri="{FF2B5EF4-FFF2-40B4-BE49-F238E27FC236}">
                <a16:creationId xmlns:a16="http://schemas.microsoft.com/office/drawing/2014/main" id="{BFFCFA7D-AA72-CCBD-7AEB-4753CEF1B172}"/>
              </a:ext>
            </a:extLst>
          </p:cNvPr>
          <p:cNvSpPr>
            <a:spLocks noGrp="1"/>
          </p:cNvSpPr>
          <p:nvPr>
            <p:ph type="sldNum" sz="quarter" idx="12"/>
          </p:nvPr>
        </p:nvSpPr>
        <p:spPr>
          <a:xfrm>
            <a:off x="2" y="4407243"/>
            <a:ext cx="1114424" cy="733443"/>
          </a:xfrm>
        </p:spPr>
        <p:txBody>
          <a:bodyPr anchor="ctr">
            <a:normAutofit/>
          </a:bodyPr>
          <a:lstStyle/>
          <a:p>
            <a:pPr>
              <a:spcAft>
                <a:spcPts val="600"/>
              </a:spcAft>
            </a:pPr>
            <a:r>
              <a:rPr lang="en-GB"/>
              <a:t> </a:t>
            </a:r>
          </a:p>
        </p:txBody>
      </p:sp>
      <p:pic>
        <p:nvPicPr>
          <p:cNvPr id="4" name="Picture 3" descr="A diagram of a computer&#10;&#10;Description automatically generated">
            <a:extLst>
              <a:ext uri="{FF2B5EF4-FFF2-40B4-BE49-F238E27FC236}">
                <a16:creationId xmlns:a16="http://schemas.microsoft.com/office/drawing/2014/main" id="{059D2CD6-E8B6-6861-35E2-BEA3A82EB538}"/>
              </a:ext>
            </a:extLst>
          </p:cNvPr>
          <p:cNvPicPr>
            <a:picLocks noChangeAspect="1"/>
          </p:cNvPicPr>
          <p:nvPr/>
        </p:nvPicPr>
        <p:blipFill>
          <a:blip r:embed="rId2"/>
          <a:stretch>
            <a:fillRect/>
          </a:stretch>
        </p:blipFill>
        <p:spPr>
          <a:xfrm>
            <a:off x="890514" y="1406792"/>
            <a:ext cx="7293121" cy="3500696"/>
          </a:xfrm>
          <a:prstGeom prst="rect">
            <a:avLst/>
          </a:prstGeom>
          <a:noFill/>
        </p:spPr>
      </p:pic>
      <p:pic>
        <p:nvPicPr>
          <p:cNvPr id="7" name="Picture 6">
            <a:extLst>
              <a:ext uri="{FF2B5EF4-FFF2-40B4-BE49-F238E27FC236}">
                <a16:creationId xmlns:a16="http://schemas.microsoft.com/office/drawing/2014/main" id="{6067D19A-50CE-D234-2393-15AD29F4F8A0}"/>
              </a:ext>
            </a:extLst>
          </p:cNvPr>
          <p:cNvPicPr>
            <a:picLocks noChangeAspect="1"/>
          </p:cNvPicPr>
          <p:nvPr/>
        </p:nvPicPr>
        <p:blipFill>
          <a:blip r:embed="rId3"/>
          <a:stretch>
            <a:fillRect/>
          </a:stretch>
        </p:blipFill>
        <p:spPr>
          <a:xfrm>
            <a:off x="7810314" y="3567677"/>
            <a:ext cx="1333686" cy="1057423"/>
          </a:xfrm>
          <a:prstGeom prst="rect">
            <a:avLst/>
          </a:prstGeom>
        </p:spPr>
      </p:pic>
      <p:sp>
        <p:nvSpPr>
          <p:cNvPr id="12" name="Title 1">
            <a:extLst>
              <a:ext uri="{FF2B5EF4-FFF2-40B4-BE49-F238E27FC236}">
                <a16:creationId xmlns:a16="http://schemas.microsoft.com/office/drawing/2014/main" id="{ABE4D14C-EF77-D758-181C-335D6500CF4D}"/>
              </a:ext>
            </a:extLst>
          </p:cNvPr>
          <p:cNvSpPr txBox="1">
            <a:spLocks/>
          </p:cNvSpPr>
          <p:nvPr/>
        </p:nvSpPr>
        <p:spPr>
          <a:xfrm>
            <a:off x="311295" y="1064602"/>
            <a:ext cx="8570487" cy="572286"/>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050" b="0" dirty="0">
                <a:solidFill>
                  <a:srgbClr val="000000"/>
                </a:solidFill>
                <a:latin typeface="NVIDIA-NALA"/>
              </a:rPr>
              <a:t>Interacting with a cluster computer is </a:t>
            </a:r>
            <a:r>
              <a:rPr lang="en-US" sz="1050" dirty="0">
                <a:solidFill>
                  <a:srgbClr val="000000"/>
                </a:solidFill>
                <a:latin typeface="NVIDIA-NALA"/>
              </a:rPr>
              <a:t>different</a:t>
            </a:r>
            <a:r>
              <a:rPr lang="en-US" sz="1050" b="0" dirty="0">
                <a:solidFill>
                  <a:srgbClr val="000000"/>
                </a:solidFill>
                <a:latin typeface="NVIDIA-NALA"/>
              </a:rPr>
              <a:t> from a normal computer. Normal computers are mostly used interactively, i.e. you type a command or click with your mouse, and your computer instantly responds by e.g. running a program. Cluster computers are mostly used non-interactively.</a:t>
            </a:r>
          </a:p>
        </p:txBody>
      </p:sp>
      <p:sp>
        <p:nvSpPr>
          <p:cNvPr id="3" name="Rectangle 2">
            <a:extLst>
              <a:ext uri="{FF2B5EF4-FFF2-40B4-BE49-F238E27FC236}">
                <a16:creationId xmlns:a16="http://schemas.microsoft.com/office/drawing/2014/main" id="{A86F53C8-A5F1-E44A-C0CB-74DE8107EB7A}"/>
              </a:ext>
            </a:extLst>
          </p:cNvPr>
          <p:cNvSpPr/>
          <p:nvPr/>
        </p:nvSpPr>
        <p:spPr>
          <a:xfrm>
            <a:off x="4366054" y="1515762"/>
            <a:ext cx="3105665" cy="5931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48B934F7-194D-A685-C941-D6A9D3F83B36}"/>
              </a:ext>
            </a:extLst>
          </p:cNvPr>
          <p:cNvSpPr/>
          <p:nvPr/>
        </p:nvSpPr>
        <p:spPr>
          <a:xfrm>
            <a:off x="3958939" y="2081323"/>
            <a:ext cx="2244154" cy="3406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Rectangle 7">
            <a:extLst>
              <a:ext uri="{FF2B5EF4-FFF2-40B4-BE49-F238E27FC236}">
                <a16:creationId xmlns:a16="http://schemas.microsoft.com/office/drawing/2014/main" id="{54B4DC10-B504-2020-153E-ABEE5335BD47}"/>
              </a:ext>
            </a:extLst>
          </p:cNvPr>
          <p:cNvSpPr/>
          <p:nvPr/>
        </p:nvSpPr>
        <p:spPr>
          <a:xfrm>
            <a:off x="2570158" y="2081323"/>
            <a:ext cx="1464713" cy="22893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8">
            <a:extLst>
              <a:ext uri="{FF2B5EF4-FFF2-40B4-BE49-F238E27FC236}">
                <a16:creationId xmlns:a16="http://schemas.microsoft.com/office/drawing/2014/main" id="{B377D627-ABFD-497D-E179-5C13B9330334}"/>
              </a:ext>
            </a:extLst>
          </p:cNvPr>
          <p:cNvSpPr/>
          <p:nvPr/>
        </p:nvSpPr>
        <p:spPr>
          <a:xfrm>
            <a:off x="2413948" y="4140028"/>
            <a:ext cx="2060828" cy="4695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Rectangle 9">
            <a:extLst>
              <a:ext uri="{FF2B5EF4-FFF2-40B4-BE49-F238E27FC236}">
                <a16:creationId xmlns:a16="http://schemas.microsoft.com/office/drawing/2014/main" id="{110F8197-F4DA-1F12-70F5-75E1B86C6F93}"/>
              </a:ext>
            </a:extLst>
          </p:cNvPr>
          <p:cNvSpPr/>
          <p:nvPr/>
        </p:nvSpPr>
        <p:spPr>
          <a:xfrm>
            <a:off x="5256565" y="2081323"/>
            <a:ext cx="2701185" cy="2737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Rectangle 10">
            <a:extLst>
              <a:ext uri="{FF2B5EF4-FFF2-40B4-BE49-F238E27FC236}">
                <a16:creationId xmlns:a16="http://schemas.microsoft.com/office/drawing/2014/main" id="{F8FC6D1D-136D-F050-1DB0-1568659EAB25}"/>
              </a:ext>
            </a:extLst>
          </p:cNvPr>
          <p:cNvSpPr/>
          <p:nvPr/>
        </p:nvSpPr>
        <p:spPr>
          <a:xfrm>
            <a:off x="883116" y="1685428"/>
            <a:ext cx="3614393" cy="10361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12">
            <a:extLst>
              <a:ext uri="{FF2B5EF4-FFF2-40B4-BE49-F238E27FC236}">
                <a16:creationId xmlns:a16="http://schemas.microsoft.com/office/drawing/2014/main" id="{30149F37-AC3C-CFED-341B-89FF946A1613}"/>
              </a:ext>
            </a:extLst>
          </p:cNvPr>
          <p:cNvSpPr/>
          <p:nvPr/>
        </p:nvSpPr>
        <p:spPr>
          <a:xfrm>
            <a:off x="3887436" y="3212966"/>
            <a:ext cx="2701185" cy="5931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71712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0EF68-F978-9446-813A-0D86C317D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8BAF2-105F-C5D7-3423-A8369CDB9434}"/>
              </a:ext>
            </a:extLst>
          </p:cNvPr>
          <p:cNvSpPr>
            <a:spLocks noGrp="1"/>
          </p:cNvSpPr>
          <p:nvPr>
            <p:ph type="title"/>
          </p:nvPr>
        </p:nvSpPr>
        <p:spPr/>
        <p:txBody>
          <a:bodyPr anchor="t">
            <a:normAutofit/>
          </a:bodyPr>
          <a:lstStyle/>
          <a:p>
            <a:r>
              <a:rPr lang="en-US" dirty="0"/>
              <a:t>Using a supercomputer</a:t>
            </a:r>
            <a:endParaRPr lang="nl-NL" dirty="0"/>
          </a:p>
        </p:txBody>
      </p:sp>
      <p:sp>
        <p:nvSpPr>
          <p:cNvPr id="5" name="Slide Number Placeholder 4">
            <a:extLst>
              <a:ext uri="{FF2B5EF4-FFF2-40B4-BE49-F238E27FC236}">
                <a16:creationId xmlns:a16="http://schemas.microsoft.com/office/drawing/2014/main" id="{A0A40A15-B7C0-568A-A5C5-09470A57045B}"/>
              </a:ext>
            </a:extLst>
          </p:cNvPr>
          <p:cNvSpPr>
            <a:spLocks noGrp="1"/>
          </p:cNvSpPr>
          <p:nvPr>
            <p:ph type="sldNum" sz="quarter" idx="12"/>
          </p:nvPr>
        </p:nvSpPr>
        <p:spPr>
          <a:xfrm>
            <a:off x="0" y="4382283"/>
            <a:ext cx="1114424" cy="572286"/>
          </a:xfrm>
        </p:spPr>
        <p:txBody>
          <a:bodyPr anchor="ctr">
            <a:normAutofit/>
          </a:bodyPr>
          <a:lstStyle/>
          <a:p>
            <a:pPr>
              <a:spcAft>
                <a:spcPts val="600"/>
              </a:spcAft>
            </a:pPr>
            <a:r>
              <a:rPr lang="en-GB"/>
              <a:t> </a:t>
            </a:r>
          </a:p>
        </p:txBody>
      </p:sp>
      <p:sp>
        <p:nvSpPr>
          <p:cNvPr id="6" name="Title 1">
            <a:extLst>
              <a:ext uri="{FF2B5EF4-FFF2-40B4-BE49-F238E27FC236}">
                <a16:creationId xmlns:a16="http://schemas.microsoft.com/office/drawing/2014/main" id="{C201A502-0AED-619A-F76A-D23F5549C84A}"/>
              </a:ext>
            </a:extLst>
          </p:cNvPr>
          <p:cNvSpPr txBox="1">
            <a:spLocks/>
          </p:cNvSpPr>
          <p:nvPr/>
        </p:nvSpPr>
        <p:spPr>
          <a:xfrm>
            <a:off x="311295" y="1064602"/>
            <a:ext cx="8570487" cy="3942218"/>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050" b="0" dirty="0">
                <a:solidFill>
                  <a:srgbClr val="000000"/>
                </a:solidFill>
                <a:latin typeface="NVIDIA-NALA"/>
              </a:rPr>
              <a:t>A cluster computer such as </a:t>
            </a:r>
            <a:r>
              <a:rPr lang="en-US" sz="1050" b="0" dirty="0" err="1">
                <a:solidFill>
                  <a:srgbClr val="000000"/>
                </a:solidFill>
                <a:latin typeface="NVIDIA-NALA"/>
              </a:rPr>
              <a:t>Snellius</a:t>
            </a:r>
            <a:r>
              <a:rPr lang="en-US" sz="1050" b="0" dirty="0">
                <a:solidFill>
                  <a:srgbClr val="000000"/>
                </a:solidFill>
                <a:latin typeface="NVIDIA-NALA"/>
              </a:rPr>
              <a:t> mainly has two types of nodes</a:t>
            </a:r>
            <a:r>
              <a:rPr lang="en-US" sz="1050" dirty="0">
                <a:solidFill>
                  <a:srgbClr val="000000"/>
                </a:solidFill>
                <a:latin typeface="NVIDIA-NALA"/>
              </a:rPr>
              <a:t>: login nodes </a:t>
            </a:r>
            <a:r>
              <a:rPr lang="en-US" sz="1050" b="0" dirty="0">
                <a:solidFill>
                  <a:srgbClr val="000000"/>
                </a:solidFill>
                <a:latin typeface="NVIDIA-NALA"/>
              </a:rPr>
              <a:t>and</a:t>
            </a:r>
            <a:r>
              <a:rPr lang="en-US" sz="1050" dirty="0">
                <a:solidFill>
                  <a:srgbClr val="000000"/>
                </a:solidFill>
                <a:latin typeface="NVIDIA-NALA"/>
              </a:rPr>
              <a:t> compute nodes</a:t>
            </a:r>
            <a:r>
              <a:rPr lang="en-US" sz="1050" b="0" dirty="0">
                <a:solidFill>
                  <a:srgbClr val="000000"/>
                </a:solidFill>
                <a:latin typeface="NVIDIA-NALA"/>
              </a:rPr>
              <a:t>. </a:t>
            </a:r>
          </a:p>
          <a:p>
            <a:pPr marL="514350" lvl="1" indent="-171450">
              <a:lnSpc>
                <a:spcPts val="1800"/>
              </a:lnSpc>
              <a:spcAft>
                <a:spcPts val="1800"/>
              </a:spcAft>
              <a:buFont typeface="Courier New" panose="02070309020205020404" pitchFamily="49" charset="0"/>
              <a:buChar char="o"/>
            </a:pPr>
            <a:r>
              <a:rPr lang="en-US" sz="1050" b="1" dirty="0">
                <a:solidFill>
                  <a:srgbClr val="000000"/>
                </a:solidFill>
                <a:latin typeface="NVIDIA-NALA"/>
                <a:ea typeface="+mj-ea"/>
                <a:cs typeface="+mj-cs"/>
              </a:rPr>
              <a:t>login nodes:</a:t>
            </a:r>
            <a:r>
              <a:rPr lang="en-US" sz="1050" dirty="0">
                <a:solidFill>
                  <a:srgbClr val="000000"/>
                </a:solidFill>
                <a:latin typeface="NVIDIA-NALA"/>
                <a:ea typeface="+mj-ea"/>
                <a:cs typeface="+mj-cs"/>
              </a:rPr>
              <a:t> Entrance point. There are only a few login nodes on a cluster computer, and you only use them for light tasks, many users can be on the same login node at the same time. </a:t>
            </a:r>
          </a:p>
          <a:p>
            <a:pPr marL="514350" lvl="1" indent="-171450">
              <a:lnSpc>
                <a:spcPts val="1800"/>
              </a:lnSpc>
              <a:spcAft>
                <a:spcPts val="1800"/>
              </a:spcAft>
              <a:buFont typeface="Courier New" panose="02070309020205020404" pitchFamily="49" charset="0"/>
              <a:buChar char="o"/>
            </a:pPr>
            <a:r>
              <a:rPr lang="en-US" sz="1050" b="1" dirty="0">
                <a:solidFill>
                  <a:srgbClr val="000000"/>
                </a:solidFill>
                <a:latin typeface="NVIDIA-NALA"/>
                <a:ea typeface="+mj-ea"/>
                <a:cs typeface="+mj-cs"/>
              </a:rPr>
              <a:t>Compute nodes:</a:t>
            </a:r>
            <a:r>
              <a:rPr lang="en-US" sz="1050" dirty="0">
                <a:solidFill>
                  <a:srgbClr val="000000"/>
                </a:solidFill>
                <a:latin typeface="NVIDIA-NALA"/>
                <a:ea typeface="+mj-ea"/>
                <a:cs typeface="+mj-cs"/>
              </a:rPr>
              <a:t> From the login node your job script is submitted to the job queue. As soon as sufficient resources (i.e. compute nodes) are available for your job, the system will take your job from the queue and send it to the compute nodes for execution.</a:t>
            </a:r>
          </a:p>
        </p:txBody>
      </p:sp>
      <p:pic>
        <p:nvPicPr>
          <p:cNvPr id="12" name="Picture 11">
            <a:extLst>
              <a:ext uri="{FF2B5EF4-FFF2-40B4-BE49-F238E27FC236}">
                <a16:creationId xmlns:a16="http://schemas.microsoft.com/office/drawing/2014/main" id="{60C9E6C5-5C0D-2AAC-1AFD-4411AA6A412B}"/>
              </a:ext>
            </a:extLst>
          </p:cNvPr>
          <p:cNvPicPr>
            <a:picLocks noChangeAspect="1"/>
          </p:cNvPicPr>
          <p:nvPr/>
        </p:nvPicPr>
        <p:blipFill>
          <a:blip r:embed="rId3"/>
          <a:stretch>
            <a:fillRect/>
          </a:stretch>
        </p:blipFill>
        <p:spPr>
          <a:xfrm>
            <a:off x="813547" y="4468373"/>
            <a:ext cx="8330451" cy="200053"/>
          </a:xfrm>
          <a:prstGeom prst="rect">
            <a:avLst/>
          </a:prstGeom>
        </p:spPr>
      </p:pic>
      <p:pic>
        <p:nvPicPr>
          <p:cNvPr id="13" name="Picture 12" descr="A diagram of a computer&#10;&#10;Description automatically generated">
            <a:extLst>
              <a:ext uri="{FF2B5EF4-FFF2-40B4-BE49-F238E27FC236}">
                <a16:creationId xmlns:a16="http://schemas.microsoft.com/office/drawing/2014/main" id="{04E1EC28-4691-AB91-2416-4778290DEC07}"/>
              </a:ext>
            </a:extLst>
          </p:cNvPr>
          <p:cNvPicPr>
            <a:picLocks noChangeAspect="1"/>
          </p:cNvPicPr>
          <p:nvPr/>
        </p:nvPicPr>
        <p:blipFill>
          <a:blip r:embed="rId4"/>
          <a:stretch>
            <a:fillRect/>
          </a:stretch>
        </p:blipFill>
        <p:spPr>
          <a:xfrm>
            <a:off x="2448709" y="2944906"/>
            <a:ext cx="4295657" cy="2061914"/>
          </a:xfrm>
          <a:prstGeom prst="rect">
            <a:avLst/>
          </a:prstGeom>
          <a:noFill/>
        </p:spPr>
      </p:pic>
    </p:spTree>
    <p:extLst>
      <p:ext uri="{BB962C8B-B14F-4D97-AF65-F5344CB8AC3E}">
        <p14:creationId xmlns:p14="http://schemas.microsoft.com/office/powerpoint/2010/main" val="388129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F2719-E471-D931-4AA1-005474130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425E4-41E9-6879-9F6A-B7C2745DCFF3}"/>
              </a:ext>
            </a:extLst>
          </p:cNvPr>
          <p:cNvSpPr>
            <a:spLocks noGrp="1"/>
          </p:cNvSpPr>
          <p:nvPr>
            <p:ph type="title"/>
          </p:nvPr>
        </p:nvSpPr>
        <p:spPr>
          <a:xfrm>
            <a:off x="758825" y="518711"/>
            <a:ext cx="7556500" cy="539038"/>
          </a:xfrm>
        </p:spPr>
        <p:txBody>
          <a:bodyPr anchor="ctr">
            <a:normAutofit/>
          </a:bodyPr>
          <a:lstStyle/>
          <a:p>
            <a:r>
              <a:rPr lang="en-US" dirty="0">
                <a:solidFill>
                  <a:schemeClr val="tx1"/>
                </a:solidFill>
              </a:rPr>
              <a:t>Access</a:t>
            </a:r>
            <a:r>
              <a:rPr lang="en-US" b="1" i="0" dirty="0">
                <a:solidFill>
                  <a:schemeClr val="tx1"/>
                </a:solidFill>
                <a:effectLst/>
              </a:rPr>
              <a:t> to </a:t>
            </a:r>
            <a:r>
              <a:rPr lang="en-US" b="1" i="0" dirty="0" err="1">
                <a:solidFill>
                  <a:schemeClr val="tx1"/>
                </a:solidFill>
                <a:effectLst/>
              </a:rPr>
              <a:t>Snellius</a:t>
            </a:r>
            <a:r>
              <a:rPr lang="en-US" b="1" i="0" dirty="0">
                <a:solidFill>
                  <a:schemeClr val="tx1"/>
                </a:solidFill>
                <a:effectLst/>
              </a:rPr>
              <a:t> login nodes</a:t>
            </a:r>
            <a:endParaRPr lang="nl-NL" dirty="0">
              <a:solidFill>
                <a:schemeClr val="tx1"/>
              </a:solidFill>
            </a:endParaRPr>
          </a:p>
        </p:txBody>
      </p:sp>
      <p:sp>
        <p:nvSpPr>
          <p:cNvPr id="3" name="Title 1">
            <a:extLst>
              <a:ext uri="{FF2B5EF4-FFF2-40B4-BE49-F238E27FC236}">
                <a16:creationId xmlns:a16="http://schemas.microsoft.com/office/drawing/2014/main" id="{3D54D6E1-F357-9C85-E822-C1DAE10D91F9}"/>
              </a:ext>
            </a:extLst>
          </p:cNvPr>
          <p:cNvSpPr txBox="1">
            <a:spLocks/>
          </p:cNvSpPr>
          <p:nvPr/>
        </p:nvSpPr>
        <p:spPr>
          <a:xfrm>
            <a:off x="162812" y="1306642"/>
            <a:ext cx="5084437" cy="2922458"/>
          </a:xfrm>
          <a:prstGeom prst="rect">
            <a:avLst/>
          </a:prstGeom>
        </p:spPr>
        <p:txBody>
          <a:bodyPr vert="horz" lIns="0" tIns="0" rIns="0" bIns="0" rtlCol="0"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spcBef>
                <a:spcPts val="0"/>
              </a:spcBef>
              <a:spcAft>
                <a:spcPts val="600"/>
              </a:spcAft>
            </a:pPr>
            <a:r>
              <a:rPr lang="en-US" sz="1600" b="0" kern="1200" baseline="0" dirty="0"/>
              <a:t>Connect to </a:t>
            </a:r>
            <a:r>
              <a:rPr lang="en-US" sz="1600" b="0" kern="1200" baseline="0" dirty="0" err="1"/>
              <a:t>Snellius</a:t>
            </a:r>
            <a:r>
              <a:rPr lang="en-US" sz="1600" b="0" kern="1200" baseline="0" dirty="0"/>
              <a:t> login nodes:</a:t>
            </a:r>
          </a:p>
          <a:p>
            <a:pPr marL="285750" indent="-285750">
              <a:spcAft>
                <a:spcPts val="600"/>
              </a:spcAft>
              <a:buFont typeface="Courier New" panose="02070309020205020404" pitchFamily="49" charset="0"/>
              <a:buChar char="o"/>
            </a:pPr>
            <a:r>
              <a:rPr lang="en-US" sz="1600" b="0" dirty="0">
                <a:latin typeface="+mj-lt"/>
                <a:ea typeface="+mj-ea"/>
                <a:cs typeface="+mj-cs"/>
              </a:rPr>
              <a:t>You can use either the web version from </a:t>
            </a:r>
            <a:r>
              <a:rPr lang="en-US" sz="1600" dirty="0">
                <a:latin typeface="+mj-lt"/>
                <a:ea typeface="+mj-ea"/>
                <a:cs typeface="+mj-cs"/>
                <a:hlinkClick r:id="rId2">
                  <a:extLst>
                    <a:ext uri="{A12FA001-AC4F-418D-AE19-62706E023703}">
                      <ahyp:hlinkClr xmlns:ahyp="http://schemas.microsoft.com/office/drawing/2018/hyperlinkcolor" val="tx"/>
                    </a:ext>
                  </a:extLst>
                </a:hlinkClick>
              </a:rPr>
              <a:t>OnDemand</a:t>
            </a:r>
            <a:endParaRPr lang="en-US" sz="1600" dirty="0">
              <a:latin typeface="+mj-lt"/>
              <a:ea typeface="+mj-ea"/>
              <a:cs typeface="+mj-cs"/>
            </a:endParaRPr>
          </a:p>
          <a:p>
            <a:pPr marL="285750" indent="-285750">
              <a:spcAft>
                <a:spcPts val="600"/>
              </a:spcAft>
              <a:buFont typeface="Courier New" panose="02070309020205020404" pitchFamily="49" charset="0"/>
              <a:buChar char="o"/>
            </a:pPr>
            <a:r>
              <a:rPr lang="en-US" sz="1600" b="0" dirty="0">
                <a:latin typeface="+mj-lt"/>
                <a:ea typeface="+mj-ea"/>
                <a:cs typeface="+mj-cs"/>
              </a:rPr>
              <a:t>Or connect with terminal secure shell (SSH): </a:t>
            </a:r>
            <a:br>
              <a:rPr lang="en-US" sz="1600" b="0" dirty="0">
                <a:latin typeface="+mj-lt"/>
                <a:ea typeface="+mj-ea"/>
                <a:cs typeface="+mj-cs"/>
              </a:rPr>
            </a:br>
            <a:r>
              <a:rPr lang="en-US" sz="1600" dirty="0">
                <a:latin typeface="+mj-lt"/>
                <a:ea typeface="+mj-ea"/>
                <a:cs typeface="+mj-cs"/>
              </a:rPr>
              <a:t>ssh &lt;username&gt;@snellius.surf.nl</a:t>
            </a:r>
          </a:p>
          <a:p>
            <a:pPr>
              <a:spcBef>
                <a:spcPts val="0"/>
              </a:spcBef>
              <a:spcAft>
                <a:spcPts val="600"/>
              </a:spcAft>
            </a:pPr>
            <a:endParaRPr lang="en-US" sz="1600" b="0" kern="1200" baseline="0" dirty="0"/>
          </a:p>
          <a:p>
            <a:pPr>
              <a:spcBef>
                <a:spcPts val="0"/>
              </a:spcBef>
              <a:spcAft>
                <a:spcPts val="600"/>
              </a:spcAft>
            </a:pPr>
            <a:endParaRPr lang="en-US" sz="1600" b="0" kern="1200" baseline="0" dirty="0"/>
          </a:p>
          <a:p>
            <a:pPr>
              <a:spcBef>
                <a:spcPts val="0"/>
              </a:spcBef>
              <a:spcAft>
                <a:spcPts val="600"/>
              </a:spcAft>
            </a:pPr>
            <a:endParaRPr lang="en-US" sz="1600" kern="1200" baseline="0" dirty="0"/>
          </a:p>
          <a:p>
            <a:pPr>
              <a:spcBef>
                <a:spcPts val="0"/>
              </a:spcBef>
              <a:spcAft>
                <a:spcPts val="600"/>
              </a:spcAft>
            </a:pPr>
            <a:endParaRPr lang="en-US" sz="1600" kern="1200" baseline="0" dirty="0"/>
          </a:p>
          <a:p>
            <a:pPr>
              <a:spcBef>
                <a:spcPts val="0"/>
              </a:spcBef>
              <a:spcAft>
                <a:spcPts val="600"/>
              </a:spcAft>
            </a:pPr>
            <a:br>
              <a:rPr lang="en-US" sz="1600" kern="1200" baseline="0" dirty="0"/>
            </a:br>
            <a:endParaRPr lang="en-US" sz="1600" kern="1200" baseline="0" dirty="0"/>
          </a:p>
        </p:txBody>
      </p:sp>
      <p:sp>
        <p:nvSpPr>
          <p:cNvPr id="5" name="Slide Number Placeholder 4">
            <a:extLst>
              <a:ext uri="{FF2B5EF4-FFF2-40B4-BE49-F238E27FC236}">
                <a16:creationId xmlns:a16="http://schemas.microsoft.com/office/drawing/2014/main" id="{642B194C-BB2C-D86E-E075-65ED46862F5A}"/>
              </a:ext>
            </a:extLst>
          </p:cNvPr>
          <p:cNvSpPr>
            <a:spLocks noGrp="1"/>
          </p:cNvSpPr>
          <p:nvPr>
            <p:ph type="sldNum" sz="quarter" idx="12"/>
          </p:nvPr>
        </p:nvSpPr>
        <p:spPr>
          <a:xfrm>
            <a:off x="2" y="4568400"/>
            <a:ext cx="1114424" cy="572286"/>
          </a:xfrm>
        </p:spPr>
        <p:txBody>
          <a:bodyPr vert="horz" lIns="756000" tIns="0" rIns="0" bIns="0" rtlCol="0" anchor="ctr">
            <a:normAutofit/>
          </a:bodyPr>
          <a:lstStyle/>
          <a:p>
            <a:pPr>
              <a:spcAft>
                <a:spcPts val="600"/>
              </a:spcAft>
            </a:pPr>
            <a:r>
              <a:rPr lang="en-GB"/>
              <a:t> </a:t>
            </a:r>
          </a:p>
        </p:txBody>
      </p:sp>
      <p:pic>
        <p:nvPicPr>
          <p:cNvPr id="7" name="Picture 6">
            <a:extLst>
              <a:ext uri="{FF2B5EF4-FFF2-40B4-BE49-F238E27FC236}">
                <a16:creationId xmlns:a16="http://schemas.microsoft.com/office/drawing/2014/main" id="{B99C8CC1-A6DC-D400-A1ED-CF15224B45D7}"/>
              </a:ext>
            </a:extLst>
          </p:cNvPr>
          <p:cNvPicPr>
            <a:picLocks noChangeAspect="1"/>
          </p:cNvPicPr>
          <p:nvPr/>
        </p:nvPicPr>
        <p:blipFill>
          <a:blip r:embed="rId3"/>
          <a:srcRect l="10943" r="25732" b="3"/>
          <a:stretch/>
        </p:blipFill>
        <p:spPr>
          <a:xfrm>
            <a:off x="5298188" y="1306642"/>
            <a:ext cx="3683000" cy="2922458"/>
          </a:xfrm>
          <a:prstGeom prst="rect">
            <a:avLst/>
          </a:prstGeom>
          <a:noFill/>
        </p:spPr>
      </p:pic>
      <p:pic>
        <p:nvPicPr>
          <p:cNvPr id="6" name="Picture 5">
            <a:extLst>
              <a:ext uri="{FF2B5EF4-FFF2-40B4-BE49-F238E27FC236}">
                <a16:creationId xmlns:a16="http://schemas.microsoft.com/office/drawing/2014/main" id="{9568B845-A00F-744A-649F-632E4C07BCE0}"/>
              </a:ext>
            </a:extLst>
          </p:cNvPr>
          <p:cNvPicPr>
            <a:picLocks noChangeAspect="1"/>
          </p:cNvPicPr>
          <p:nvPr/>
        </p:nvPicPr>
        <p:blipFill>
          <a:blip r:embed="rId4"/>
          <a:stretch>
            <a:fillRect/>
          </a:stretch>
        </p:blipFill>
        <p:spPr>
          <a:xfrm>
            <a:off x="0" y="3072084"/>
            <a:ext cx="4572000" cy="1492602"/>
          </a:xfrm>
          <a:prstGeom prst="rect">
            <a:avLst/>
          </a:prstGeom>
        </p:spPr>
      </p:pic>
    </p:spTree>
    <p:extLst>
      <p:ext uri="{BB962C8B-B14F-4D97-AF65-F5344CB8AC3E}">
        <p14:creationId xmlns:p14="http://schemas.microsoft.com/office/powerpoint/2010/main" val="445572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245F4-425B-B393-22A2-9718DE79C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A1B31-B5D3-E38E-32A1-B5DBE9F43B3E}"/>
              </a:ext>
            </a:extLst>
          </p:cNvPr>
          <p:cNvSpPr>
            <a:spLocks noGrp="1"/>
          </p:cNvSpPr>
          <p:nvPr>
            <p:ph type="title"/>
          </p:nvPr>
        </p:nvSpPr>
        <p:spPr>
          <a:xfrm>
            <a:off x="663574" y="257453"/>
            <a:ext cx="7556500" cy="539038"/>
          </a:xfrm>
        </p:spPr>
        <p:txBody>
          <a:bodyPr anchor="ctr">
            <a:normAutofit/>
          </a:bodyPr>
          <a:lstStyle/>
          <a:p>
            <a:r>
              <a:rPr lang="en-US" dirty="0">
                <a:solidFill>
                  <a:schemeClr val="tx1"/>
                </a:solidFill>
              </a:rPr>
              <a:t>Access</a:t>
            </a:r>
            <a:r>
              <a:rPr lang="en-US" b="1" i="0" dirty="0">
                <a:solidFill>
                  <a:schemeClr val="tx1"/>
                </a:solidFill>
                <a:effectLst/>
              </a:rPr>
              <a:t> to </a:t>
            </a:r>
            <a:r>
              <a:rPr lang="en-US" b="1" i="0" dirty="0" err="1">
                <a:solidFill>
                  <a:schemeClr val="tx1"/>
                </a:solidFill>
                <a:effectLst/>
              </a:rPr>
              <a:t>Snellius</a:t>
            </a:r>
            <a:r>
              <a:rPr lang="en-US" b="1" i="0" dirty="0">
                <a:solidFill>
                  <a:schemeClr val="tx1"/>
                </a:solidFill>
                <a:effectLst/>
              </a:rPr>
              <a:t> compute nodes</a:t>
            </a:r>
            <a:endParaRPr lang="nl-NL" dirty="0">
              <a:solidFill>
                <a:schemeClr val="tx1"/>
              </a:solidFill>
            </a:endParaRPr>
          </a:p>
        </p:txBody>
      </p:sp>
      <p:sp>
        <p:nvSpPr>
          <p:cNvPr id="3" name="Title 1">
            <a:extLst>
              <a:ext uri="{FF2B5EF4-FFF2-40B4-BE49-F238E27FC236}">
                <a16:creationId xmlns:a16="http://schemas.microsoft.com/office/drawing/2014/main" id="{23E527F4-8382-B202-2BA4-1604FF9F6A5A}"/>
              </a:ext>
            </a:extLst>
          </p:cNvPr>
          <p:cNvSpPr txBox="1">
            <a:spLocks/>
          </p:cNvSpPr>
          <p:nvPr/>
        </p:nvSpPr>
        <p:spPr>
          <a:xfrm>
            <a:off x="282388" y="1306642"/>
            <a:ext cx="4159436" cy="2922458"/>
          </a:xfrm>
          <a:prstGeom prst="rect">
            <a:avLst/>
          </a:prstGeom>
        </p:spPr>
        <p:txBody>
          <a:bodyPr vert="horz" lIns="0" tIns="0" rIns="0" bIns="0" rtlCol="0"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spcBef>
                <a:spcPts val="0"/>
              </a:spcBef>
              <a:spcAft>
                <a:spcPts val="600"/>
              </a:spcAft>
            </a:pPr>
            <a:r>
              <a:rPr lang="en-US" sz="1600" b="0" kern="1200" baseline="0" dirty="0"/>
              <a:t>Connect to </a:t>
            </a:r>
            <a:r>
              <a:rPr lang="en-US" sz="1600" b="0" kern="1200" baseline="0" dirty="0" err="1"/>
              <a:t>Snellius</a:t>
            </a:r>
            <a:r>
              <a:rPr lang="en-US" sz="1600" b="0" kern="1200" baseline="0" dirty="0"/>
              <a:t> compute nodes:</a:t>
            </a:r>
          </a:p>
          <a:p>
            <a:pPr marL="285750" indent="-285750">
              <a:spcBef>
                <a:spcPts val="0"/>
              </a:spcBef>
              <a:spcAft>
                <a:spcPts val="600"/>
              </a:spcAft>
              <a:buFont typeface="Arial" panose="020B0604020202020204" pitchFamily="34" charset="0"/>
              <a:buChar char="•"/>
            </a:pPr>
            <a:r>
              <a:rPr lang="en-US" sz="1600" kern="1200" baseline="0" dirty="0"/>
              <a:t>Schedule jobs </a:t>
            </a:r>
            <a:r>
              <a:rPr lang="en-US" sz="1600" b="0" kern="1200" baseline="0" dirty="0"/>
              <a:t>(recommended, not burning your credits when not computing)</a:t>
            </a:r>
            <a:endParaRPr lang="en-US" sz="1600" b="0" dirty="0"/>
          </a:p>
          <a:p>
            <a:pPr marL="285750" indent="-285750">
              <a:spcBef>
                <a:spcPts val="0"/>
              </a:spcBef>
              <a:spcAft>
                <a:spcPts val="600"/>
              </a:spcAft>
              <a:buFont typeface="Arial" panose="020B0604020202020204" pitchFamily="34" charset="0"/>
              <a:buChar char="•"/>
            </a:pPr>
            <a:r>
              <a:rPr lang="en-US" sz="1600" kern="1200" baseline="0" dirty="0"/>
              <a:t>Interactive Apps </a:t>
            </a:r>
            <a:r>
              <a:rPr lang="en-US" sz="1600" b="0" kern="1200" baseline="0" dirty="0"/>
              <a:t>(</a:t>
            </a:r>
            <a:r>
              <a:rPr lang="en-US" sz="1600" b="0" dirty="0"/>
              <a:t>keep </a:t>
            </a:r>
            <a:r>
              <a:rPr lang="en-US" sz="1600" b="0" kern="1200" baseline="0" dirty="0"/>
              <a:t>burning your credits even when not computing)</a:t>
            </a:r>
            <a:endParaRPr lang="en-US" sz="1600" b="0" dirty="0"/>
          </a:p>
          <a:p>
            <a:pPr marL="628650" lvl="1" indent="-285750">
              <a:spcAft>
                <a:spcPts val="600"/>
              </a:spcAft>
              <a:buFont typeface="Courier New" panose="02070309020205020404" pitchFamily="49" charset="0"/>
              <a:buChar char="o"/>
            </a:pPr>
            <a:r>
              <a:rPr lang="en-US" sz="1600" dirty="0" err="1">
                <a:latin typeface="+mj-lt"/>
                <a:ea typeface="+mj-ea"/>
                <a:cs typeface="+mj-cs"/>
              </a:rPr>
              <a:t>Jupyter</a:t>
            </a:r>
            <a:endParaRPr lang="en-US" sz="1600" dirty="0">
              <a:latin typeface="+mj-lt"/>
              <a:ea typeface="+mj-ea"/>
              <a:cs typeface="+mj-cs"/>
            </a:endParaRPr>
          </a:p>
          <a:p>
            <a:pPr marL="628650" lvl="1" indent="-285750">
              <a:spcAft>
                <a:spcPts val="600"/>
              </a:spcAft>
              <a:buFont typeface="Courier New" panose="02070309020205020404" pitchFamily="49" charset="0"/>
              <a:buChar char="o"/>
            </a:pPr>
            <a:r>
              <a:rPr lang="en-US" sz="1600" dirty="0">
                <a:latin typeface="+mj-lt"/>
                <a:ea typeface="+mj-ea"/>
                <a:cs typeface="+mj-cs"/>
              </a:rPr>
              <a:t>VS Code</a:t>
            </a:r>
          </a:p>
          <a:p>
            <a:pPr marL="628650" lvl="1" indent="-285750">
              <a:spcAft>
                <a:spcPts val="600"/>
              </a:spcAft>
              <a:buFont typeface="Courier New" panose="02070309020205020404" pitchFamily="49" charset="0"/>
              <a:buChar char="o"/>
            </a:pPr>
            <a:r>
              <a:rPr lang="en-US" sz="1600" b="0" kern="1200" baseline="0" dirty="0">
                <a:latin typeface="+mj-lt"/>
                <a:ea typeface="+mj-ea"/>
                <a:cs typeface="+mj-cs"/>
              </a:rPr>
              <a:t>Interactive access to compute node</a:t>
            </a:r>
            <a:endParaRPr lang="en-US" sz="1600" b="0" kern="1200" baseline="0" dirty="0"/>
          </a:p>
          <a:p>
            <a:pPr>
              <a:spcBef>
                <a:spcPts val="0"/>
              </a:spcBef>
              <a:spcAft>
                <a:spcPts val="600"/>
              </a:spcAft>
            </a:pPr>
            <a:endParaRPr lang="en-US" sz="1600" b="0" kern="1200" baseline="0" dirty="0"/>
          </a:p>
          <a:p>
            <a:pPr>
              <a:spcBef>
                <a:spcPts val="0"/>
              </a:spcBef>
              <a:spcAft>
                <a:spcPts val="600"/>
              </a:spcAft>
            </a:pPr>
            <a:endParaRPr lang="en-US" sz="1600" b="0" kern="1200" baseline="0" dirty="0"/>
          </a:p>
          <a:p>
            <a:pPr>
              <a:spcBef>
                <a:spcPts val="0"/>
              </a:spcBef>
              <a:spcAft>
                <a:spcPts val="600"/>
              </a:spcAft>
            </a:pPr>
            <a:endParaRPr lang="en-US" sz="1600" kern="1200" baseline="0" dirty="0">
              <a:solidFill>
                <a:schemeClr val="bg1"/>
              </a:solidFill>
            </a:endParaRPr>
          </a:p>
          <a:p>
            <a:pPr>
              <a:spcBef>
                <a:spcPts val="0"/>
              </a:spcBef>
              <a:spcAft>
                <a:spcPts val="600"/>
              </a:spcAft>
            </a:pPr>
            <a:endParaRPr lang="en-US" sz="1600" kern="1200" baseline="0" dirty="0">
              <a:solidFill>
                <a:schemeClr val="bg1"/>
              </a:solidFill>
            </a:endParaRPr>
          </a:p>
          <a:p>
            <a:pPr>
              <a:spcBef>
                <a:spcPts val="0"/>
              </a:spcBef>
              <a:spcAft>
                <a:spcPts val="600"/>
              </a:spcAft>
            </a:pPr>
            <a:br>
              <a:rPr lang="en-US" sz="1600" kern="1200" baseline="0" dirty="0">
                <a:solidFill>
                  <a:schemeClr val="bg1"/>
                </a:solidFill>
              </a:rPr>
            </a:br>
            <a:endParaRPr lang="en-US" sz="1600" kern="1200" baseline="0" dirty="0">
              <a:solidFill>
                <a:schemeClr val="bg1"/>
              </a:solidFill>
            </a:endParaRPr>
          </a:p>
        </p:txBody>
      </p:sp>
      <p:sp>
        <p:nvSpPr>
          <p:cNvPr id="5" name="Slide Number Placeholder 4">
            <a:extLst>
              <a:ext uri="{FF2B5EF4-FFF2-40B4-BE49-F238E27FC236}">
                <a16:creationId xmlns:a16="http://schemas.microsoft.com/office/drawing/2014/main" id="{569DBC27-3013-CA0E-D242-F43BAA4E3B6C}"/>
              </a:ext>
            </a:extLst>
          </p:cNvPr>
          <p:cNvSpPr>
            <a:spLocks noGrp="1"/>
          </p:cNvSpPr>
          <p:nvPr>
            <p:ph type="sldNum" sz="quarter" idx="12"/>
          </p:nvPr>
        </p:nvSpPr>
        <p:spPr>
          <a:xfrm>
            <a:off x="2" y="4568400"/>
            <a:ext cx="1114424" cy="572286"/>
          </a:xfrm>
        </p:spPr>
        <p:txBody>
          <a:bodyPr vert="horz" lIns="756000" tIns="0" rIns="0" bIns="0" rtlCol="0" anchor="ctr">
            <a:normAutofit/>
          </a:bodyPr>
          <a:lstStyle/>
          <a:p>
            <a:pPr>
              <a:spcAft>
                <a:spcPts val="600"/>
              </a:spcAft>
            </a:pPr>
            <a:r>
              <a:rPr lang="en-GB"/>
              <a:t> </a:t>
            </a:r>
          </a:p>
        </p:txBody>
      </p:sp>
      <p:pic>
        <p:nvPicPr>
          <p:cNvPr id="4" name="Picture 3">
            <a:extLst>
              <a:ext uri="{FF2B5EF4-FFF2-40B4-BE49-F238E27FC236}">
                <a16:creationId xmlns:a16="http://schemas.microsoft.com/office/drawing/2014/main" id="{FFB1B289-A175-60EA-359D-DAA950726889}"/>
              </a:ext>
            </a:extLst>
          </p:cNvPr>
          <p:cNvPicPr>
            <a:picLocks noChangeAspect="1"/>
          </p:cNvPicPr>
          <p:nvPr/>
        </p:nvPicPr>
        <p:blipFill>
          <a:blip r:embed="rId2"/>
          <a:stretch>
            <a:fillRect/>
          </a:stretch>
        </p:blipFill>
        <p:spPr>
          <a:xfrm>
            <a:off x="4572000" y="1023756"/>
            <a:ext cx="4413011" cy="3452023"/>
          </a:xfrm>
          <a:prstGeom prst="rect">
            <a:avLst/>
          </a:prstGeom>
        </p:spPr>
      </p:pic>
    </p:spTree>
    <p:extLst>
      <p:ext uri="{BB962C8B-B14F-4D97-AF65-F5344CB8AC3E}">
        <p14:creationId xmlns:p14="http://schemas.microsoft.com/office/powerpoint/2010/main" val="308807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4282C-A755-929C-7B7E-4C8F70BE2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D8132-D275-8B5B-2131-2F10A1D84E62}"/>
              </a:ext>
            </a:extLst>
          </p:cNvPr>
          <p:cNvSpPr>
            <a:spLocks noGrp="1"/>
          </p:cNvSpPr>
          <p:nvPr>
            <p:ph type="title"/>
          </p:nvPr>
        </p:nvSpPr>
        <p:spPr>
          <a:xfrm>
            <a:off x="758825" y="518711"/>
            <a:ext cx="7556500" cy="539038"/>
          </a:xfrm>
        </p:spPr>
        <p:txBody>
          <a:bodyPr anchor="ctr">
            <a:normAutofit/>
          </a:bodyPr>
          <a:lstStyle/>
          <a:p>
            <a:r>
              <a:rPr lang="en-US" dirty="0">
                <a:solidFill>
                  <a:schemeClr val="tx1"/>
                </a:solidFill>
              </a:rPr>
              <a:t>Login node</a:t>
            </a:r>
            <a:endParaRPr lang="nl-NL" dirty="0">
              <a:solidFill>
                <a:schemeClr val="tx1"/>
              </a:solidFill>
            </a:endParaRPr>
          </a:p>
        </p:txBody>
      </p:sp>
      <p:sp>
        <p:nvSpPr>
          <p:cNvPr id="3" name="Title 1">
            <a:extLst>
              <a:ext uri="{FF2B5EF4-FFF2-40B4-BE49-F238E27FC236}">
                <a16:creationId xmlns:a16="http://schemas.microsoft.com/office/drawing/2014/main" id="{45A96B7A-A70A-AFA6-0B5C-9E8E2019AECF}"/>
              </a:ext>
            </a:extLst>
          </p:cNvPr>
          <p:cNvSpPr txBox="1">
            <a:spLocks/>
          </p:cNvSpPr>
          <p:nvPr/>
        </p:nvSpPr>
        <p:spPr>
          <a:xfrm>
            <a:off x="282388" y="1306642"/>
            <a:ext cx="4159436" cy="2922458"/>
          </a:xfrm>
          <a:prstGeom prst="rect">
            <a:avLst/>
          </a:prstGeom>
        </p:spPr>
        <p:txBody>
          <a:bodyPr vert="horz" lIns="0" tIns="0" rIns="0" bIns="0" rtlCol="0"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spcBef>
                <a:spcPts val="0"/>
              </a:spcBef>
              <a:spcAft>
                <a:spcPts val="600"/>
              </a:spcAft>
            </a:pPr>
            <a:r>
              <a:rPr lang="en-US" sz="1600" b="0" dirty="0"/>
              <a:t>Check your remaining budgets: </a:t>
            </a:r>
            <a:r>
              <a:rPr lang="en-US" sz="1600" b="0" i="1" kern="1200" baseline="0" dirty="0" err="1"/>
              <a:t>accinfo</a:t>
            </a:r>
            <a:endParaRPr lang="en-US" sz="1600" b="0" i="1" kern="1200" baseline="0" dirty="0"/>
          </a:p>
          <a:p>
            <a:pPr>
              <a:spcBef>
                <a:spcPts val="0"/>
              </a:spcBef>
              <a:spcAft>
                <a:spcPts val="600"/>
              </a:spcAft>
            </a:pPr>
            <a:endParaRPr lang="en-US" sz="1600" kern="1200" baseline="0" dirty="0"/>
          </a:p>
          <a:p>
            <a:pPr>
              <a:spcBef>
                <a:spcPts val="0"/>
              </a:spcBef>
              <a:spcAft>
                <a:spcPts val="600"/>
              </a:spcAft>
            </a:pPr>
            <a:endParaRPr lang="en-US" sz="1600" kern="1200" baseline="0" dirty="0"/>
          </a:p>
          <a:p>
            <a:pPr>
              <a:spcBef>
                <a:spcPts val="0"/>
              </a:spcBef>
              <a:spcAft>
                <a:spcPts val="600"/>
              </a:spcAft>
            </a:pPr>
            <a:br>
              <a:rPr lang="en-US" sz="1600" kern="1200" baseline="0" dirty="0"/>
            </a:br>
            <a:endParaRPr lang="en-US" sz="1600" kern="1200" baseline="0" dirty="0"/>
          </a:p>
        </p:txBody>
      </p:sp>
      <p:sp>
        <p:nvSpPr>
          <p:cNvPr id="5" name="Slide Number Placeholder 4">
            <a:extLst>
              <a:ext uri="{FF2B5EF4-FFF2-40B4-BE49-F238E27FC236}">
                <a16:creationId xmlns:a16="http://schemas.microsoft.com/office/drawing/2014/main" id="{3D9FE700-3253-5C30-675C-B202A21043C0}"/>
              </a:ext>
            </a:extLst>
          </p:cNvPr>
          <p:cNvSpPr>
            <a:spLocks noGrp="1"/>
          </p:cNvSpPr>
          <p:nvPr>
            <p:ph type="sldNum" sz="quarter" idx="12"/>
          </p:nvPr>
        </p:nvSpPr>
        <p:spPr>
          <a:xfrm>
            <a:off x="2" y="4568400"/>
            <a:ext cx="1114424" cy="572286"/>
          </a:xfrm>
        </p:spPr>
        <p:txBody>
          <a:bodyPr vert="horz" lIns="756000" tIns="0" rIns="0" bIns="0" rtlCol="0" anchor="ctr">
            <a:normAutofit/>
          </a:bodyPr>
          <a:lstStyle/>
          <a:p>
            <a:pPr>
              <a:spcAft>
                <a:spcPts val="600"/>
              </a:spcAft>
            </a:pPr>
            <a:r>
              <a:rPr lang="en-GB"/>
              <a:t> </a:t>
            </a:r>
          </a:p>
        </p:txBody>
      </p:sp>
      <p:pic>
        <p:nvPicPr>
          <p:cNvPr id="7" name="Picture 6">
            <a:extLst>
              <a:ext uri="{FF2B5EF4-FFF2-40B4-BE49-F238E27FC236}">
                <a16:creationId xmlns:a16="http://schemas.microsoft.com/office/drawing/2014/main" id="{844C9BF8-617A-D8A9-E692-17108BE2FFA5}"/>
              </a:ext>
            </a:extLst>
          </p:cNvPr>
          <p:cNvPicPr>
            <a:picLocks noChangeAspect="1"/>
          </p:cNvPicPr>
          <p:nvPr/>
        </p:nvPicPr>
        <p:blipFill>
          <a:blip r:embed="rId2"/>
          <a:stretch>
            <a:fillRect/>
          </a:stretch>
        </p:blipFill>
        <p:spPr>
          <a:xfrm>
            <a:off x="4257782" y="1039702"/>
            <a:ext cx="4610637" cy="3456338"/>
          </a:xfrm>
          <a:prstGeom prst="rect">
            <a:avLst/>
          </a:prstGeom>
        </p:spPr>
      </p:pic>
    </p:spTree>
    <p:extLst>
      <p:ext uri="{BB962C8B-B14F-4D97-AF65-F5344CB8AC3E}">
        <p14:creationId xmlns:p14="http://schemas.microsoft.com/office/powerpoint/2010/main" val="90573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EA5C6-CCE3-77A1-A9CC-9F0A04FE5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96F01-54BD-DF74-ECC2-5AC245A5672F}"/>
              </a:ext>
            </a:extLst>
          </p:cNvPr>
          <p:cNvSpPr>
            <a:spLocks noGrp="1"/>
          </p:cNvSpPr>
          <p:nvPr>
            <p:ph type="title"/>
          </p:nvPr>
        </p:nvSpPr>
        <p:spPr>
          <a:xfrm>
            <a:off x="758825" y="518711"/>
            <a:ext cx="7556500" cy="539038"/>
          </a:xfrm>
        </p:spPr>
        <p:txBody>
          <a:bodyPr anchor="ctr">
            <a:normAutofit/>
          </a:bodyPr>
          <a:lstStyle/>
          <a:p>
            <a:r>
              <a:rPr lang="en-US" dirty="0">
                <a:solidFill>
                  <a:schemeClr val="tx1"/>
                </a:solidFill>
              </a:rPr>
              <a:t>Login node </a:t>
            </a:r>
            <a:r>
              <a:rPr lang="en-US" b="1" i="0" dirty="0">
                <a:solidFill>
                  <a:schemeClr val="tx1"/>
                </a:solidFill>
                <a:effectLst/>
              </a:rPr>
              <a:t>- Exercise</a:t>
            </a:r>
            <a:endParaRPr lang="nl-NL" dirty="0">
              <a:solidFill>
                <a:schemeClr val="tx1"/>
              </a:solidFill>
            </a:endParaRPr>
          </a:p>
        </p:txBody>
      </p:sp>
      <p:sp>
        <p:nvSpPr>
          <p:cNvPr id="3" name="Title 1">
            <a:extLst>
              <a:ext uri="{FF2B5EF4-FFF2-40B4-BE49-F238E27FC236}">
                <a16:creationId xmlns:a16="http://schemas.microsoft.com/office/drawing/2014/main" id="{C6ECB9FB-DBE2-3490-AC79-36555461A481}"/>
              </a:ext>
            </a:extLst>
          </p:cNvPr>
          <p:cNvSpPr txBox="1">
            <a:spLocks/>
          </p:cNvSpPr>
          <p:nvPr/>
        </p:nvSpPr>
        <p:spPr>
          <a:xfrm>
            <a:off x="282388" y="1306642"/>
            <a:ext cx="4159436" cy="2922458"/>
          </a:xfrm>
          <a:prstGeom prst="rect">
            <a:avLst/>
          </a:prstGeom>
        </p:spPr>
        <p:txBody>
          <a:bodyPr vert="horz" lIns="0" tIns="0" rIns="0" bIns="0" rtlCol="0"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285750" indent="-285750">
              <a:spcBef>
                <a:spcPts val="0"/>
              </a:spcBef>
              <a:spcAft>
                <a:spcPts val="600"/>
              </a:spcAft>
              <a:buFont typeface="Arial" panose="020B0604020202020204" pitchFamily="34" charset="0"/>
              <a:buChar char="•"/>
            </a:pPr>
            <a:r>
              <a:rPr lang="en-US" sz="1600" b="0" dirty="0"/>
              <a:t>Explore the file system: </a:t>
            </a:r>
            <a:r>
              <a:rPr lang="en-US" sz="1600" b="0" i="1" dirty="0" err="1"/>
              <a:t>pwd</a:t>
            </a:r>
            <a:r>
              <a:rPr lang="en-US" sz="1600" b="0" i="1" dirty="0"/>
              <a:t>, ls, cd</a:t>
            </a:r>
          </a:p>
          <a:p>
            <a:pPr marL="285750" indent="-285750">
              <a:spcBef>
                <a:spcPts val="0"/>
              </a:spcBef>
              <a:spcAft>
                <a:spcPts val="600"/>
              </a:spcAft>
              <a:buFont typeface="Arial" panose="020B0604020202020204" pitchFamily="34" charset="0"/>
              <a:buChar char="•"/>
            </a:pPr>
            <a:r>
              <a:rPr lang="en-US" sz="1600" b="0" kern="1200" baseline="0" dirty="0"/>
              <a:t>Create and edit files/direct</a:t>
            </a:r>
            <a:r>
              <a:rPr lang="en-US" sz="1600" b="0" dirty="0"/>
              <a:t>ories: </a:t>
            </a:r>
            <a:r>
              <a:rPr lang="en-US" sz="1600" b="0" i="1" dirty="0" err="1"/>
              <a:t>mkdir</a:t>
            </a:r>
            <a:r>
              <a:rPr lang="en-US" sz="1600" b="0" i="1" dirty="0"/>
              <a:t>, cp, mv, nano, rm</a:t>
            </a:r>
          </a:p>
          <a:p>
            <a:pPr marL="285750" indent="-285750">
              <a:spcBef>
                <a:spcPts val="0"/>
              </a:spcBef>
              <a:spcAft>
                <a:spcPts val="600"/>
              </a:spcAft>
              <a:buFont typeface="Arial" panose="020B0604020202020204" pitchFamily="34" charset="0"/>
              <a:buChar char="•"/>
            </a:pPr>
            <a:r>
              <a:rPr lang="en-US" sz="1600" b="0" i="1" kern="1200" baseline="0" dirty="0"/>
              <a:t>Use env variables: $USER, $HOME</a:t>
            </a:r>
          </a:p>
          <a:p>
            <a:pPr>
              <a:spcBef>
                <a:spcPts val="0"/>
              </a:spcBef>
              <a:spcAft>
                <a:spcPts val="600"/>
              </a:spcAft>
            </a:pPr>
            <a:endParaRPr lang="en-US" sz="1600" kern="1200" baseline="0" dirty="0"/>
          </a:p>
          <a:p>
            <a:pPr>
              <a:spcBef>
                <a:spcPts val="0"/>
              </a:spcBef>
              <a:spcAft>
                <a:spcPts val="600"/>
              </a:spcAft>
            </a:pPr>
            <a:endParaRPr lang="en-US" sz="1600" kern="1200" baseline="0" dirty="0">
              <a:solidFill>
                <a:schemeClr val="bg1"/>
              </a:solidFill>
            </a:endParaRPr>
          </a:p>
          <a:p>
            <a:pPr>
              <a:spcBef>
                <a:spcPts val="0"/>
              </a:spcBef>
              <a:spcAft>
                <a:spcPts val="600"/>
              </a:spcAft>
            </a:pPr>
            <a:br>
              <a:rPr lang="en-US" sz="1600" kern="1200" baseline="0" dirty="0">
                <a:solidFill>
                  <a:schemeClr val="bg1"/>
                </a:solidFill>
              </a:rPr>
            </a:br>
            <a:endParaRPr lang="en-US" sz="1600" kern="1200" baseline="0" dirty="0">
              <a:solidFill>
                <a:schemeClr val="bg1"/>
              </a:solidFill>
            </a:endParaRPr>
          </a:p>
        </p:txBody>
      </p:sp>
      <p:sp>
        <p:nvSpPr>
          <p:cNvPr id="5" name="Slide Number Placeholder 4">
            <a:extLst>
              <a:ext uri="{FF2B5EF4-FFF2-40B4-BE49-F238E27FC236}">
                <a16:creationId xmlns:a16="http://schemas.microsoft.com/office/drawing/2014/main" id="{521CAE59-D9D2-101C-DD4D-114121C07FE1}"/>
              </a:ext>
            </a:extLst>
          </p:cNvPr>
          <p:cNvSpPr>
            <a:spLocks noGrp="1"/>
          </p:cNvSpPr>
          <p:nvPr>
            <p:ph type="sldNum" sz="quarter" idx="12"/>
          </p:nvPr>
        </p:nvSpPr>
        <p:spPr>
          <a:xfrm>
            <a:off x="2" y="4568400"/>
            <a:ext cx="1114424" cy="572286"/>
          </a:xfrm>
        </p:spPr>
        <p:txBody>
          <a:bodyPr vert="horz" lIns="756000" tIns="0" rIns="0" bIns="0" rtlCol="0" anchor="ctr">
            <a:normAutofit/>
          </a:bodyPr>
          <a:lstStyle/>
          <a:p>
            <a:pPr>
              <a:spcAft>
                <a:spcPts val="600"/>
              </a:spcAft>
            </a:pPr>
            <a:r>
              <a:rPr lang="en-GB"/>
              <a:t> </a:t>
            </a:r>
          </a:p>
        </p:txBody>
      </p:sp>
      <p:pic>
        <p:nvPicPr>
          <p:cNvPr id="11" name="Picture 10">
            <a:extLst>
              <a:ext uri="{FF2B5EF4-FFF2-40B4-BE49-F238E27FC236}">
                <a16:creationId xmlns:a16="http://schemas.microsoft.com/office/drawing/2014/main" id="{3572ACD4-FA53-888E-22C9-D3288E8630A4}"/>
              </a:ext>
            </a:extLst>
          </p:cNvPr>
          <p:cNvPicPr>
            <a:picLocks noChangeAspect="1"/>
          </p:cNvPicPr>
          <p:nvPr/>
        </p:nvPicPr>
        <p:blipFill>
          <a:blip r:embed="rId2"/>
          <a:stretch>
            <a:fillRect/>
          </a:stretch>
        </p:blipFill>
        <p:spPr>
          <a:xfrm>
            <a:off x="4891363" y="1306642"/>
            <a:ext cx="4067743" cy="2419688"/>
          </a:xfrm>
          <a:prstGeom prst="rect">
            <a:avLst/>
          </a:prstGeom>
        </p:spPr>
      </p:pic>
    </p:spTree>
    <p:extLst>
      <p:ext uri="{BB962C8B-B14F-4D97-AF65-F5344CB8AC3E}">
        <p14:creationId xmlns:p14="http://schemas.microsoft.com/office/powerpoint/2010/main" val="1953054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76131-EDE6-CC37-83B0-E565F1A6E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186A3-F1A8-E9BF-9C62-5A64558DA81E}"/>
              </a:ext>
            </a:extLst>
          </p:cNvPr>
          <p:cNvSpPr>
            <a:spLocks noGrp="1"/>
          </p:cNvSpPr>
          <p:nvPr>
            <p:ph type="title"/>
          </p:nvPr>
        </p:nvSpPr>
        <p:spPr>
          <a:xfrm>
            <a:off x="758825" y="518711"/>
            <a:ext cx="7556500" cy="539038"/>
          </a:xfrm>
        </p:spPr>
        <p:txBody>
          <a:bodyPr anchor="ctr">
            <a:normAutofit/>
          </a:bodyPr>
          <a:lstStyle/>
          <a:p>
            <a:r>
              <a:rPr lang="en-US" dirty="0">
                <a:solidFill>
                  <a:schemeClr val="tx1"/>
                </a:solidFill>
              </a:rPr>
              <a:t>Data transfer</a:t>
            </a:r>
            <a:endParaRPr lang="nl-NL" dirty="0">
              <a:solidFill>
                <a:schemeClr val="tx1"/>
              </a:solidFill>
            </a:endParaRPr>
          </a:p>
        </p:txBody>
      </p:sp>
      <p:sp>
        <p:nvSpPr>
          <p:cNvPr id="3" name="Title 1">
            <a:extLst>
              <a:ext uri="{FF2B5EF4-FFF2-40B4-BE49-F238E27FC236}">
                <a16:creationId xmlns:a16="http://schemas.microsoft.com/office/drawing/2014/main" id="{5E7DFEEC-9E8C-B5D6-4351-124A06AF9605}"/>
              </a:ext>
            </a:extLst>
          </p:cNvPr>
          <p:cNvSpPr txBox="1">
            <a:spLocks/>
          </p:cNvSpPr>
          <p:nvPr/>
        </p:nvSpPr>
        <p:spPr>
          <a:xfrm>
            <a:off x="282386" y="1306642"/>
            <a:ext cx="8202708" cy="367517"/>
          </a:xfrm>
          <a:prstGeom prst="rect">
            <a:avLst/>
          </a:prstGeom>
        </p:spPr>
        <p:txBody>
          <a:bodyPr vert="horz" lIns="0" tIns="0" rIns="0" bIns="0" rtlCol="0"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spcBef>
                <a:spcPts val="0"/>
              </a:spcBef>
              <a:spcAft>
                <a:spcPts val="600"/>
              </a:spcAft>
            </a:pPr>
            <a:r>
              <a:rPr lang="en-US" sz="1600" b="0" dirty="0"/>
              <a:t>Transfer your data with </a:t>
            </a:r>
            <a:r>
              <a:rPr lang="en-US" sz="1600" b="0" dirty="0" err="1"/>
              <a:t>ondemand</a:t>
            </a:r>
            <a:r>
              <a:rPr lang="en-US" sz="1600" b="0" dirty="0"/>
              <a:t> Home Directory/git pull request/</a:t>
            </a:r>
            <a:r>
              <a:rPr lang="en-US" sz="1600" b="0" dirty="0">
                <a:solidFill>
                  <a:srgbClr val="0563C1"/>
                </a:solidFill>
                <a:hlinkClick r:id="rId2">
                  <a:extLst>
                    <a:ext uri="{A12FA001-AC4F-418D-AE19-62706E023703}">
                      <ahyp:hlinkClr xmlns:ahyp="http://schemas.microsoft.com/office/drawing/2018/hyperlinkcolor" val="tx"/>
                    </a:ext>
                  </a:extLst>
                </a:hlinkClick>
              </a:rPr>
              <a:t>using the local terminal </a:t>
            </a:r>
            <a:r>
              <a:rPr lang="en-US" sz="1600" b="0" dirty="0" err="1">
                <a:hlinkClick r:id="rId2">
                  <a:extLst>
                    <a:ext uri="{A12FA001-AC4F-418D-AE19-62706E023703}">
                      <ahyp:hlinkClr xmlns:ahyp="http://schemas.microsoft.com/office/drawing/2018/hyperlinkcolor" val="tx"/>
                    </a:ext>
                  </a:extLst>
                </a:hlinkClick>
              </a:rPr>
              <a:t>scp</a:t>
            </a:r>
            <a:br>
              <a:rPr lang="en-US" sz="1600" kern="1200" baseline="0" dirty="0"/>
            </a:br>
            <a:endParaRPr lang="en-US" sz="1600" kern="1200" baseline="0" dirty="0"/>
          </a:p>
        </p:txBody>
      </p:sp>
      <p:sp>
        <p:nvSpPr>
          <p:cNvPr id="5" name="Slide Number Placeholder 4">
            <a:extLst>
              <a:ext uri="{FF2B5EF4-FFF2-40B4-BE49-F238E27FC236}">
                <a16:creationId xmlns:a16="http://schemas.microsoft.com/office/drawing/2014/main" id="{14A88EB7-665F-5CDD-5FA1-B8961D3F9E9E}"/>
              </a:ext>
            </a:extLst>
          </p:cNvPr>
          <p:cNvSpPr>
            <a:spLocks noGrp="1"/>
          </p:cNvSpPr>
          <p:nvPr>
            <p:ph type="sldNum" sz="quarter" idx="12"/>
          </p:nvPr>
        </p:nvSpPr>
        <p:spPr>
          <a:xfrm>
            <a:off x="2" y="4568400"/>
            <a:ext cx="1114424" cy="572286"/>
          </a:xfrm>
        </p:spPr>
        <p:txBody>
          <a:bodyPr vert="horz" lIns="756000" tIns="0" rIns="0" bIns="0" rtlCol="0" anchor="ctr">
            <a:normAutofit/>
          </a:bodyPr>
          <a:lstStyle/>
          <a:p>
            <a:pPr>
              <a:spcAft>
                <a:spcPts val="600"/>
              </a:spcAft>
            </a:pPr>
            <a:r>
              <a:rPr lang="en-GB"/>
              <a:t> </a:t>
            </a:r>
          </a:p>
        </p:txBody>
      </p:sp>
      <p:pic>
        <p:nvPicPr>
          <p:cNvPr id="4" name="Picture 3">
            <a:extLst>
              <a:ext uri="{FF2B5EF4-FFF2-40B4-BE49-F238E27FC236}">
                <a16:creationId xmlns:a16="http://schemas.microsoft.com/office/drawing/2014/main" id="{8FCE5476-AF9F-12AD-A568-BA0A18C4C0B8}"/>
              </a:ext>
            </a:extLst>
          </p:cNvPr>
          <p:cNvPicPr>
            <a:picLocks noChangeAspect="1"/>
          </p:cNvPicPr>
          <p:nvPr/>
        </p:nvPicPr>
        <p:blipFill>
          <a:blip r:embed="rId3"/>
          <a:stretch>
            <a:fillRect/>
          </a:stretch>
        </p:blipFill>
        <p:spPr>
          <a:xfrm>
            <a:off x="282387" y="1781734"/>
            <a:ext cx="5588539" cy="2560665"/>
          </a:xfrm>
          <a:prstGeom prst="rect">
            <a:avLst/>
          </a:prstGeom>
        </p:spPr>
      </p:pic>
      <p:pic>
        <p:nvPicPr>
          <p:cNvPr id="11" name="Picture 10">
            <a:extLst>
              <a:ext uri="{FF2B5EF4-FFF2-40B4-BE49-F238E27FC236}">
                <a16:creationId xmlns:a16="http://schemas.microsoft.com/office/drawing/2014/main" id="{9B4C0FD4-D087-72DE-EB15-AD4553450FDD}"/>
              </a:ext>
            </a:extLst>
          </p:cNvPr>
          <p:cNvPicPr>
            <a:picLocks noChangeAspect="1"/>
          </p:cNvPicPr>
          <p:nvPr/>
        </p:nvPicPr>
        <p:blipFill>
          <a:blip r:embed="rId4"/>
          <a:stretch>
            <a:fillRect/>
          </a:stretch>
        </p:blipFill>
        <p:spPr>
          <a:xfrm>
            <a:off x="3899648" y="1781734"/>
            <a:ext cx="5094470" cy="2560665"/>
          </a:xfrm>
          <a:prstGeom prst="rect">
            <a:avLst/>
          </a:prstGeom>
        </p:spPr>
      </p:pic>
    </p:spTree>
    <p:extLst>
      <p:ext uri="{BB962C8B-B14F-4D97-AF65-F5344CB8AC3E}">
        <p14:creationId xmlns:p14="http://schemas.microsoft.com/office/powerpoint/2010/main" val="468630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F3985-A454-52C2-0127-D798DA426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C1FFE-900A-4CDE-7172-05DBF45F6B1A}"/>
              </a:ext>
            </a:extLst>
          </p:cNvPr>
          <p:cNvSpPr>
            <a:spLocks noGrp="1"/>
          </p:cNvSpPr>
          <p:nvPr>
            <p:ph type="title"/>
          </p:nvPr>
        </p:nvSpPr>
        <p:spPr>
          <a:xfrm>
            <a:off x="758825" y="518711"/>
            <a:ext cx="7556500" cy="539038"/>
          </a:xfrm>
        </p:spPr>
        <p:txBody>
          <a:bodyPr anchor="ctr">
            <a:normAutofit/>
          </a:bodyPr>
          <a:lstStyle/>
          <a:p>
            <a:r>
              <a:rPr lang="en-US" dirty="0">
                <a:solidFill>
                  <a:schemeClr val="tx1"/>
                </a:solidFill>
              </a:rPr>
              <a:t>Data transfer - Exercise</a:t>
            </a:r>
            <a:endParaRPr lang="nl-NL" dirty="0">
              <a:solidFill>
                <a:schemeClr val="tx1"/>
              </a:solidFill>
            </a:endParaRPr>
          </a:p>
        </p:txBody>
      </p:sp>
      <p:sp>
        <p:nvSpPr>
          <p:cNvPr id="3" name="Title 1">
            <a:extLst>
              <a:ext uri="{FF2B5EF4-FFF2-40B4-BE49-F238E27FC236}">
                <a16:creationId xmlns:a16="http://schemas.microsoft.com/office/drawing/2014/main" id="{D934073B-4F97-CBD1-7CC0-B494264D7371}"/>
              </a:ext>
            </a:extLst>
          </p:cNvPr>
          <p:cNvSpPr txBox="1">
            <a:spLocks/>
          </p:cNvSpPr>
          <p:nvPr/>
        </p:nvSpPr>
        <p:spPr>
          <a:xfrm>
            <a:off x="282386" y="1306642"/>
            <a:ext cx="8202708" cy="3096546"/>
          </a:xfrm>
          <a:prstGeom prst="rect">
            <a:avLst/>
          </a:prstGeom>
        </p:spPr>
        <p:txBody>
          <a:bodyPr vert="horz" lIns="0" tIns="0" rIns="0" bIns="0" rtlCol="0"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285750" indent="-285750">
              <a:spcBef>
                <a:spcPts val="0"/>
              </a:spcBef>
              <a:spcAft>
                <a:spcPts val="600"/>
              </a:spcAft>
              <a:buFont typeface="Arial" panose="020B0604020202020204" pitchFamily="34" charset="0"/>
              <a:buChar char="•"/>
            </a:pPr>
            <a:r>
              <a:rPr lang="en-US" sz="1600" b="0" dirty="0"/>
              <a:t>Git clone the following repo:</a:t>
            </a:r>
          </a:p>
          <a:p>
            <a:pPr marL="628650" lvl="1" indent="-285750">
              <a:spcAft>
                <a:spcPts val="600"/>
              </a:spcAft>
              <a:buFont typeface="Arial" panose="020B0604020202020204" pitchFamily="34" charset="0"/>
              <a:buChar char="•"/>
            </a:pPr>
            <a:r>
              <a:rPr lang="en-US" sz="1600" b="1" dirty="0"/>
              <a:t>git clone https://gitlab.tue.nl/hpclab/courses/snellius-introduction.git</a:t>
            </a:r>
          </a:p>
          <a:p>
            <a:pPr marL="285750" indent="-285750">
              <a:spcBef>
                <a:spcPts val="0"/>
              </a:spcBef>
              <a:spcAft>
                <a:spcPts val="600"/>
              </a:spcAft>
              <a:buFont typeface="Arial" panose="020B0604020202020204" pitchFamily="34" charset="0"/>
              <a:buChar char="•"/>
            </a:pPr>
            <a:r>
              <a:rPr lang="en-US" sz="1600" b="0" dirty="0"/>
              <a:t>Explore the git repository</a:t>
            </a:r>
          </a:p>
          <a:p>
            <a:pPr marL="628650" lvl="1" indent="-285750">
              <a:spcAft>
                <a:spcPts val="600"/>
              </a:spcAft>
              <a:buFont typeface="Arial" panose="020B0604020202020204" pitchFamily="34" charset="0"/>
              <a:buChar char="•"/>
            </a:pPr>
            <a:r>
              <a:rPr lang="en-US" sz="1600" b="1" dirty="0"/>
              <a:t>cd </a:t>
            </a:r>
            <a:r>
              <a:rPr lang="en-US" sz="1600" b="1" dirty="0" err="1"/>
              <a:t>snellius</a:t>
            </a:r>
            <a:r>
              <a:rPr lang="en-US" sz="1600" b="1" dirty="0"/>
              <a:t>-introduction/</a:t>
            </a:r>
          </a:p>
          <a:p>
            <a:pPr marL="628650" lvl="1" indent="-285750">
              <a:spcAft>
                <a:spcPts val="600"/>
              </a:spcAft>
              <a:buFont typeface="Arial" panose="020B0604020202020204" pitchFamily="34" charset="0"/>
              <a:buChar char="•"/>
            </a:pPr>
            <a:r>
              <a:rPr lang="en-US" sz="1600" b="1" dirty="0"/>
              <a:t>ls </a:t>
            </a:r>
          </a:p>
          <a:p>
            <a:pPr marL="285750" indent="-285750">
              <a:spcAft>
                <a:spcPts val="600"/>
              </a:spcAft>
              <a:buFont typeface="Arial" panose="020B0604020202020204" pitchFamily="34" charset="0"/>
              <a:buChar char="•"/>
            </a:pPr>
            <a:endParaRPr lang="en-US" sz="2950" b="1" dirty="0"/>
          </a:p>
          <a:p>
            <a:pPr>
              <a:spcBef>
                <a:spcPts val="0"/>
              </a:spcBef>
              <a:spcAft>
                <a:spcPts val="600"/>
              </a:spcAft>
            </a:pPr>
            <a:endParaRPr lang="en-US" sz="1600" b="0" i="1" kern="1200" baseline="0" dirty="0">
              <a:solidFill>
                <a:schemeClr val="bg1"/>
              </a:solidFill>
            </a:endParaRPr>
          </a:p>
        </p:txBody>
      </p:sp>
      <p:sp>
        <p:nvSpPr>
          <p:cNvPr id="5" name="Slide Number Placeholder 4">
            <a:extLst>
              <a:ext uri="{FF2B5EF4-FFF2-40B4-BE49-F238E27FC236}">
                <a16:creationId xmlns:a16="http://schemas.microsoft.com/office/drawing/2014/main" id="{9ECD1446-840B-F347-25D5-6AC38973A45D}"/>
              </a:ext>
            </a:extLst>
          </p:cNvPr>
          <p:cNvSpPr>
            <a:spLocks noGrp="1"/>
          </p:cNvSpPr>
          <p:nvPr>
            <p:ph type="sldNum" sz="quarter" idx="12"/>
          </p:nvPr>
        </p:nvSpPr>
        <p:spPr>
          <a:xfrm>
            <a:off x="2" y="4568400"/>
            <a:ext cx="1114424" cy="572286"/>
          </a:xfrm>
        </p:spPr>
        <p:txBody>
          <a:bodyPr vert="horz" lIns="756000" tIns="0" rIns="0" bIns="0" rtlCol="0" anchor="ctr">
            <a:normAutofit/>
          </a:bodyPr>
          <a:lstStyle/>
          <a:p>
            <a:pPr>
              <a:spcAft>
                <a:spcPts val="600"/>
              </a:spcAft>
            </a:pPr>
            <a:r>
              <a:rPr lang="en-GB"/>
              <a:t> </a:t>
            </a:r>
          </a:p>
        </p:txBody>
      </p:sp>
      <p:pic>
        <p:nvPicPr>
          <p:cNvPr id="7" name="Picture 6">
            <a:extLst>
              <a:ext uri="{FF2B5EF4-FFF2-40B4-BE49-F238E27FC236}">
                <a16:creationId xmlns:a16="http://schemas.microsoft.com/office/drawing/2014/main" id="{CB831DF3-AF05-1492-7878-461462923F0E}"/>
              </a:ext>
            </a:extLst>
          </p:cNvPr>
          <p:cNvPicPr>
            <a:picLocks noChangeAspect="1"/>
          </p:cNvPicPr>
          <p:nvPr/>
        </p:nvPicPr>
        <p:blipFill>
          <a:blip r:embed="rId2"/>
          <a:stretch>
            <a:fillRect/>
          </a:stretch>
        </p:blipFill>
        <p:spPr>
          <a:xfrm>
            <a:off x="379362" y="3147243"/>
            <a:ext cx="8512278" cy="1417443"/>
          </a:xfrm>
          <a:prstGeom prst="rect">
            <a:avLst/>
          </a:prstGeom>
        </p:spPr>
      </p:pic>
    </p:spTree>
    <p:extLst>
      <p:ext uri="{BB962C8B-B14F-4D97-AF65-F5344CB8AC3E}">
        <p14:creationId xmlns:p14="http://schemas.microsoft.com/office/powerpoint/2010/main" val="136956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24FC3-9EE7-7811-30BF-9F95761B1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2503B-560F-E3F7-C189-67F4C9FD02F9}"/>
              </a:ext>
            </a:extLst>
          </p:cNvPr>
          <p:cNvSpPr>
            <a:spLocks noGrp="1"/>
          </p:cNvSpPr>
          <p:nvPr>
            <p:ph type="title"/>
          </p:nvPr>
        </p:nvSpPr>
        <p:spPr>
          <a:xfrm>
            <a:off x="793750" y="318346"/>
            <a:ext cx="7556500" cy="322041"/>
          </a:xfrm>
        </p:spPr>
        <p:txBody>
          <a:bodyPr anchor="t">
            <a:normAutofit fontScale="90000"/>
          </a:bodyPr>
          <a:lstStyle/>
          <a:p>
            <a:r>
              <a:rPr lang="en-US" dirty="0"/>
              <a:t>Use of library</a:t>
            </a:r>
          </a:p>
        </p:txBody>
      </p:sp>
      <p:sp>
        <p:nvSpPr>
          <p:cNvPr id="6" name="Title 1">
            <a:extLst>
              <a:ext uri="{FF2B5EF4-FFF2-40B4-BE49-F238E27FC236}">
                <a16:creationId xmlns:a16="http://schemas.microsoft.com/office/drawing/2014/main" id="{1F5ECF4B-41F3-57BB-C261-6471D3FBB00A}"/>
              </a:ext>
            </a:extLst>
          </p:cNvPr>
          <p:cNvSpPr txBox="1">
            <a:spLocks/>
          </p:cNvSpPr>
          <p:nvPr/>
        </p:nvSpPr>
        <p:spPr>
          <a:xfrm>
            <a:off x="306228" y="1079470"/>
            <a:ext cx="8570487" cy="3942218"/>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285750" indent="-285750">
              <a:spcBef>
                <a:spcPts val="0"/>
              </a:spcBef>
              <a:spcAft>
                <a:spcPts val="600"/>
              </a:spcAft>
              <a:buFont typeface="Arial" panose="020B0604020202020204" pitchFamily="34" charset="0"/>
              <a:buChar char="•"/>
            </a:pPr>
            <a:r>
              <a:rPr lang="en-US" sz="1050" b="0" i="1" kern="1200" baseline="0" dirty="0">
                <a:solidFill>
                  <a:schemeClr val="bg1"/>
                </a:solidFill>
              </a:rPr>
              <a:t>Use env variables: $USER, $HOME</a:t>
            </a:r>
          </a:p>
          <a:p>
            <a:pPr marL="171450" indent="-171450" algn="l">
              <a:lnSpc>
                <a:spcPts val="1800"/>
              </a:lnSpc>
              <a:spcAft>
                <a:spcPts val="1800"/>
              </a:spcAft>
              <a:buFont typeface="Arial" panose="020B0604020202020204" pitchFamily="34" charset="0"/>
              <a:buChar char="•"/>
            </a:pPr>
            <a:endParaRPr lang="en-US" sz="1050" dirty="0">
              <a:solidFill>
                <a:srgbClr val="000000"/>
              </a:solidFill>
              <a:latin typeface="NVIDIA-NALA"/>
              <a:ea typeface="+mj-ea"/>
              <a:cs typeface="+mj-cs"/>
            </a:endParaRPr>
          </a:p>
        </p:txBody>
      </p:sp>
      <p:pic>
        <p:nvPicPr>
          <p:cNvPr id="12" name="Picture 11">
            <a:extLst>
              <a:ext uri="{FF2B5EF4-FFF2-40B4-BE49-F238E27FC236}">
                <a16:creationId xmlns:a16="http://schemas.microsoft.com/office/drawing/2014/main" id="{A6DC3FD6-36B1-7096-8A50-4268F26FF1FE}"/>
              </a:ext>
            </a:extLst>
          </p:cNvPr>
          <p:cNvPicPr>
            <a:picLocks noChangeAspect="1"/>
          </p:cNvPicPr>
          <p:nvPr/>
        </p:nvPicPr>
        <p:blipFill>
          <a:blip r:embed="rId2"/>
          <a:stretch>
            <a:fillRect/>
          </a:stretch>
        </p:blipFill>
        <p:spPr>
          <a:xfrm>
            <a:off x="813547" y="4468373"/>
            <a:ext cx="8330451" cy="200053"/>
          </a:xfrm>
          <a:prstGeom prst="rect">
            <a:avLst/>
          </a:prstGeom>
        </p:spPr>
      </p:pic>
      <p:sp>
        <p:nvSpPr>
          <p:cNvPr id="7" name="Title 1">
            <a:extLst>
              <a:ext uri="{FF2B5EF4-FFF2-40B4-BE49-F238E27FC236}">
                <a16:creationId xmlns:a16="http://schemas.microsoft.com/office/drawing/2014/main" id="{E5A4ACC1-D715-2CF7-9B48-127F3A73D6A1}"/>
              </a:ext>
            </a:extLst>
          </p:cNvPr>
          <p:cNvSpPr txBox="1">
            <a:spLocks/>
          </p:cNvSpPr>
          <p:nvPr/>
        </p:nvSpPr>
        <p:spPr>
          <a:xfrm>
            <a:off x="413804" y="964575"/>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lgn="l">
              <a:lnSpc>
                <a:spcPts val="1800"/>
              </a:lnSpc>
              <a:spcAft>
                <a:spcPts val="1800"/>
              </a:spcAft>
            </a:pPr>
            <a:r>
              <a:rPr lang="en-US" sz="1400" b="0" dirty="0">
                <a:solidFill>
                  <a:srgbClr val="000000"/>
                </a:solidFill>
                <a:latin typeface="NVIDIA-NALA"/>
                <a:ea typeface="+mj-ea"/>
                <a:cs typeface="+mj-cs"/>
              </a:rPr>
              <a:t>Always </a:t>
            </a:r>
            <a:r>
              <a:rPr lang="en-US" sz="1400" b="0" dirty="0">
                <a:solidFill>
                  <a:srgbClr val="000000"/>
                </a:solidFill>
                <a:latin typeface="NVIDIA-NALA"/>
              </a:rPr>
              <a:t>check if the libraries you need is already available on HPC, because:</a:t>
            </a:r>
          </a:p>
          <a:p>
            <a:pPr marL="628650" lvl="1" indent="-285750">
              <a:spcAft>
                <a:spcPts val="1800"/>
              </a:spcAft>
              <a:buFont typeface="Wingdings" panose="05000000000000000000" pitchFamily="2" charset="2"/>
              <a:buChar char="q"/>
            </a:pPr>
            <a:r>
              <a:rPr lang="en-US" sz="1400" dirty="0">
                <a:solidFill>
                  <a:srgbClr val="000000"/>
                </a:solidFill>
                <a:latin typeface="NVIDIA-NALA"/>
                <a:ea typeface="+mj-ea"/>
                <a:cs typeface="+mj-cs"/>
              </a:rPr>
              <a:t>Optimized for the hardware of the supercomputer</a:t>
            </a:r>
          </a:p>
          <a:p>
            <a:pPr marL="628650" lvl="1" indent="-285750">
              <a:spcAft>
                <a:spcPts val="1800"/>
              </a:spcAft>
              <a:buFont typeface="Wingdings" panose="05000000000000000000" pitchFamily="2" charset="2"/>
              <a:buChar char="q"/>
            </a:pPr>
            <a:r>
              <a:rPr lang="en-US" sz="1400" dirty="0">
                <a:solidFill>
                  <a:srgbClr val="000000"/>
                </a:solidFill>
                <a:latin typeface="NVIDIA-NALA"/>
                <a:ea typeface="+mj-ea"/>
                <a:cs typeface="+mj-cs"/>
              </a:rPr>
              <a:t>Software is available as modules</a:t>
            </a:r>
          </a:p>
          <a:p>
            <a:pPr marL="628650" lvl="1" indent="-285750">
              <a:spcAft>
                <a:spcPts val="1800"/>
              </a:spcAft>
              <a:buFont typeface="Wingdings" panose="05000000000000000000" pitchFamily="2" charset="2"/>
              <a:buChar char="q"/>
            </a:pPr>
            <a:r>
              <a:rPr lang="en-US" sz="1400" dirty="0">
                <a:solidFill>
                  <a:srgbClr val="000000"/>
                </a:solidFill>
                <a:latin typeface="NVIDIA-NALA"/>
                <a:ea typeface="+mj-ea"/>
                <a:cs typeface="+mj-cs"/>
              </a:rPr>
              <a:t>A module automatically loads dependencies</a:t>
            </a:r>
          </a:p>
          <a:p>
            <a:pPr marL="628650" lvl="1" indent="-285750">
              <a:spcAft>
                <a:spcPts val="1800"/>
              </a:spcAft>
              <a:buFont typeface="Wingdings" panose="05000000000000000000" pitchFamily="2" charset="2"/>
              <a:buChar char="q"/>
            </a:pPr>
            <a:r>
              <a:rPr lang="en-US" sz="1400" dirty="0">
                <a:solidFill>
                  <a:srgbClr val="000000"/>
                </a:solidFill>
                <a:latin typeface="NVIDIA-NALA"/>
                <a:ea typeface="+mj-ea"/>
                <a:cs typeface="+mj-cs"/>
              </a:rPr>
              <a:t>Reduce </a:t>
            </a:r>
            <a:r>
              <a:rPr lang="en-US" sz="1400" b="1" dirty="0">
                <a:solidFill>
                  <a:srgbClr val="000000"/>
                </a:solidFill>
                <a:latin typeface="NVIDIA-NALA"/>
                <a:ea typeface="+mj-ea"/>
                <a:cs typeface="+mj-cs"/>
              </a:rPr>
              <a:t>waste</a:t>
            </a:r>
            <a:r>
              <a:rPr lang="en-US" sz="1400" dirty="0">
                <a:solidFill>
                  <a:srgbClr val="000000"/>
                </a:solidFill>
                <a:latin typeface="NVIDIA-NALA"/>
                <a:ea typeface="+mj-ea"/>
                <a:cs typeface="+mj-cs"/>
              </a:rPr>
              <a:t> of resources for the same library</a:t>
            </a:r>
          </a:p>
          <a:p>
            <a:pPr marL="285750" indent="-285750">
              <a:spcBef>
                <a:spcPts val="0"/>
              </a:spcBef>
              <a:spcAft>
                <a:spcPts val="600"/>
              </a:spcAft>
              <a:buFont typeface="Arial" panose="020B0604020202020204" pitchFamily="34" charset="0"/>
              <a:buChar char="•"/>
            </a:pPr>
            <a:r>
              <a:rPr lang="en-US" sz="1800" b="0" dirty="0">
                <a:solidFill>
                  <a:schemeClr val="bg1"/>
                </a:solidFill>
              </a:rPr>
              <a:t>Explore the file system: </a:t>
            </a:r>
            <a:r>
              <a:rPr lang="en-US" sz="1800" b="0" i="1" dirty="0" err="1">
                <a:solidFill>
                  <a:schemeClr val="bg1"/>
                </a:solidFill>
              </a:rPr>
              <a:t>pwd</a:t>
            </a:r>
            <a:r>
              <a:rPr lang="en-US" sz="1800" b="0" i="1" dirty="0">
                <a:solidFill>
                  <a:schemeClr val="bg1"/>
                </a:solidFill>
              </a:rPr>
              <a:t>, ls, cd</a:t>
            </a:r>
          </a:p>
        </p:txBody>
      </p:sp>
      <p:pic>
        <p:nvPicPr>
          <p:cNvPr id="9" name="Picture 8">
            <a:extLst>
              <a:ext uri="{FF2B5EF4-FFF2-40B4-BE49-F238E27FC236}">
                <a16:creationId xmlns:a16="http://schemas.microsoft.com/office/drawing/2014/main" id="{930E00EC-E7F3-A1DE-6B1D-20FB636F503E}"/>
              </a:ext>
            </a:extLst>
          </p:cNvPr>
          <p:cNvPicPr>
            <a:picLocks noChangeAspect="1"/>
          </p:cNvPicPr>
          <p:nvPr/>
        </p:nvPicPr>
        <p:blipFill>
          <a:blip r:embed="rId3"/>
          <a:stretch>
            <a:fillRect/>
          </a:stretch>
        </p:blipFill>
        <p:spPr>
          <a:xfrm>
            <a:off x="1176619" y="3189938"/>
            <a:ext cx="6418954" cy="1478488"/>
          </a:xfrm>
          <a:prstGeom prst="rect">
            <a:avLst/>
          </a:prstGeom>
        </p:spPr>
      </p:pic>
      <p:sp>
        <p:nvSpPr>
          <p:cNvPr id="3" name="Slide Number Placeholder 4">
            <a:extLst>
              <a:ext uri="{FF2B5EF4-FFF2-40B4-BE49-F238E27FC236}">
                <a16:creationId xmlns:a16="http://schemas.microsoft.com/office/drawing/2014/main" id="{A83040F8-56AC-374C-B5FB-7CCEDAAE4772}"/>
              </a:ext>
            </a:extLst>
          </p:cNvPr>
          <p:cNvSpPr>
            <a:spLocks noGrp="1"/>
          </p:cNvSpPr>
          <p:nvPr>
            <p:ph type="sldNum" sz="quarter" idx="12"/>
          </p:nvPr>
        </p:nvSpPr>
        <p:spPr>
          <a:xfrm>
            <a:off x="0" y="4521991"/>
            <a:ext cx="1114424" cy="572286"/>
          </a:xfrm>
        </p:spPr>
        <p:txBody>
          <a:bodyPr anchor="ctr">
            <a:normAutofit/>
          </a:bodyPr>
          <a:lstStyle/>
          <a:p>
            <a:pPr>
              <a:spcAft>
                <a:spcPts val="600"/>
              </a:spcAft>
            </a:pPr>
            <a:r>
              <a:rPr lang="en-GB"/>
              <a:t> </a:t>
            </a:r>
          </a:p>
        </p:txBody>
      </p:sp>
    </p:spTree>
    <p:extLst>
      <p:ext uri="{BB962C8B-B14F-4D97-AF65-F5344CB8AC3E}">
        <p14:creationId xmlns:p14="http://schemas.microsoft.com/office/powerpoint/2010/main" val="368415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BD014-CAE2-F738-5205-B81C839B9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66713-A096-5C21-C5E8-11524DF25115}"/>
              </a:ext>
            </a:extLst>
          </p:cNvPr>
          <p:cNvSpPr>
            <a:spLocks noGrp="1"/>
          </p:cNvSpPr>
          <p:nvPr>
            <p:ph type="title"/>
          </p:nvPr>
        </p:nvSpPr>
        <p:spPr>
          <a:xfrm>
            <a:off x="758825" y="518400"/>
            <a:ext cx="7556500" cy="322041"/>
          </a:xfrm>
        </p:spPr>
        <p:txBody>
          <a:bodyPr anchor="t">
            <a:normAutofit fontScale="90000"/>
          </a:bodyPr>
          <a:lstStyle/>
          <a:p>
            <a:r>
              <a:rPr lang="en-US" dirty="0"/>
              <a:t>Use of library - exercise</a:t>
            </a:r>
          </a:p>
        </p:txBody>
      </p:sp>
      <p:sp>
        <p:nvSpPr>
          <p:cNvPr id="5" name="Slide Number Placeholder 4">
            <a:extLst>
              <a:ext uri="{FF2B5EF4-FFF2-40B4-BE49-F238E27FC236}">
                <a16:creationId xmlns:a16="http://schemas.microsoft.com/office/drawing/2014/main" id="{984B908D-8694-8CC3-0320-2681DAFC274D}"/>
              </a:ext>
            </a:extLst>
          </p:cNvPr>
          <p:cNvSpPr>
            <a:spLocks noGrp="1"/>
          </p:cNvSpPr>
          <p:nvPr>
            <p:ph type="sldNum" sz="quarter" idx="12"/>
          </p:nvPr>
        </p:nvSpPr>
        <p:spPr>
          <a:xfrm>
            <a:off x="0" y="4521991"/>
            <a:ext cx="1114424" cy="572286"/>
          </a:xfrm>
        </p:spPr>
        <p:txBody>
          <a:bodyPr anchor="ctr">
            <a:normAutofit/>
          </a:bodyPr>
          <a:lstStyle/>
          <a:p>
            <a:pPr>
              <a:spcAft>
                <a:spcPts val="600"/>
              </a:spcAft>
            </a:pPr>
            <a:r>
              <a:rPr lang="en-GB"/>
              <a:t> </a:t>
            </a:r>
          </a:p>
        </p:txBody>
      </p:sp>
      <p:sp>
        <p:nvSpPr>
          <p:cNvPr id="6" name="Title 1">
            <a:extLst>
              <a:ext uri="{FF2B5EF4-FFF2-40B4-BE49-F238E27FC236}">
                <a16:creationId xmlns:a16="http://schemas.microsoft.com/office/drawing/2014/main" id="{BA6533B9-0D1B-E6A9-046A-BE9F7F2CF74B}"/>
              </a:ext>
            </a:extLst>
          </p:cNvPr>
          <p:cNvSpPr txBox="1">
            <a:spLocks/>
          </p:cNvSpPr>
          <p:nvPr/>
        </p:nvSpPr>
        <p:spPr>
          <a:xfrm>
            <a:off x="311295" y="1064602"/>
            <a:ext cx="8570487" cy="3942218"/>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endParaRPr lang="en-US" sz="1050" dirty="0">
              <a:solidFill>
                <a:srgbClr val="000000"/>
              </a:solidFill>
              <a:latin typeface="NVIDIA-NALA"/>
              <a:ea typeface="+mj-ea"/>
              <a:cs typeface="+mj-cs"/>
            </a:endParaRPr>
          </a:p>
        </p:txBody>
      </p:sp>
      <p:pic>
        <p:nvPicPr>
          <p:cNvPr id="12" name="Picture 11">
            <a:extLst>
              <a:ext uri="{FF2B5EF4-FFF2-40B4-BE49-F238E27FC236}">
                <a16:creationId xmlns:a16="http://schemas.microsoft.com/office/drawing/2014/main" id="{998D8A65-CC6A-D04F-1973-9471093A03E6}"/>
              </a:ext>
            </a:extLst>
          </p:cNvPr>
          <p:cNvPicPr>
            <a:picLocks noChangeAspect="1"/>
          </p:cNvPicPr>
          <p:nvPr/>
        </p:nvPicPr>
        <p:blipFill>
          <a:blip r:embed="rId2"/>
          <a:stretch>
            <a:fillRect/>
          </a:stretch>
        </p:blipFill>
        <p:spPr>
          <a:xfrm>
            <a:off x="813547" y="4468373"/>
            <a:ext cx="8330451" cy="200053"/>
          </a:xfrm>
          <a:prstGeom prst="rect">
            <a:avLst/>
          </a:prstGeom>
        </p:spPr>
      </p:pic>
      <p:sp>
        <p:nvSpPr>
          <p:cNvPr id="7" name="Title 1">
            <a:extLst>
              <a:ext uri="{FF2B5EF4-FFF2-40B4-BE49-F238E27FC236}">
                <a16:creationId xmlns:a16="http://schemas.microsoft.com/office/drawing/2014/main" id="{A9D58A0C-08FE-C7F9-262E-DEAEF9B0F1B2}"/>
              </a:ext>
            </a:extLst>
          </p:cNvPr>
          <p:cNvSpPr txBox="1">
            <a:spLocks/>
          </p:cNvSpPr>
          <p:nvPr/>
        </p:nvSpPr>
        <p:spPr>
          <a:xfrm>
            <a:off x="311295" y="1064601"/>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spcBef>
                <a:spcPts val="0"/>
              </a:spcBef>
              <a:spcAft>
                <a:spcPts val="600"/>
              </a:spcAft>
            </a:pPr>
            <a:endParaRPr lang="en-US" sz="1800" b="0" i="1" dirty="0">
              <a:solidFill>
                <a:schemeClr val="bg1"/>
              </a:solidFill>
            </a:endParaRPr>
          </a:p>
        </p:txBody>
      </p:sp>
      <p:sp>
        <p:nvSpPr>
          <p:cNvPr id="3" name="Title 1">
            <a:extLst>
              <a:ext uri="{FF2B5EF4-FFF2-40B4-BE49-F238E27FC236}">
                <a16:creationId xmlns:a16="http://schemas.microsoft.com/office/drawing/2014/main" id="{B78C70AD-AB60-8C81-2339-FAE6DBAEE349}"/>
              </a:ext>
            </a:extLst>
          </p:cNvPr>
          <p:cNvSpPr txBox="1">
            <a:spLocks/>
          </p:cNvSpPr>
          <p:nvPr/>
        </p:nvSpPr>
        <p:spPr>
          <a:xfrm>
            <a:off x="472659" y="1054870"/>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400" b="0" dirty="0">
                <a:solidFill>
                  <a:srgbClr val="000000"/>
                </a:solidFill>
                <a:latin typeface="NVIDIA-NALA"/>
                <a:ea typeface="+mj-ea"/>
                <a:cs typeface="+mj-cs"/>
              </a:rPr>
              <a:t>Useful commands:</a:t>
            </a:r>
          </a:p>
          <a:p>
            <a:pPr marL="171450" indent="-171450" algn="l">
              <a:lnSpc>
                <a:spcPts val="1800"/>
              </a:lnSpc>
              <a:spcAft>
                <a:spcPts val="1800"/>
              </a:spcAft>
              <a:buFont typeface="Arial" panose="020B0604020202020204" pitchFamily="34" charset="0"/>
              <a:buChar char="•"/>
            </a:pPr>
            <a:r>
              <a:rPr lang="en-US" sz="1400" b="0" i="1" dirty="0">
                <a:solidFill>
                  <a:srgbClr val="000000"/>
                </a:solidFill>
                <a:latin typeface="NVIDIA-NALA"/>
                <a:ea typeface="+mj-ea"/>
                <a:cs typeface="+mj-cs"/>
              </a:rPr>
              <a:t>module avail </a:t>
            </a:r>
            <a:r>
              <a:rPr lang="en-US" sz="1400" b="0" dirty="0">
                <a:solidFill>
                  <a:srgbClr val="000000"/>
                </a:solidFill>
                <a:latin typeface="NVIDIA-NALA"/>
                <a:ea typeface="+mj-ea"/>
                <a:cs typeface="+mj-cs"/>
              </a:rPr>
              <a:t>- available modules in the system</a:t>
            </a:r>
          </a:p>
          <a:p>
            <a:pPr marL="171450" indent="-171450" algn="l">
              <a:lnSpc>
                <a:spcPts val="1800"/>
              </a:lnSpc>
              <a:spcAft>
                <a:spcPts val="1800"/>
              </a:spcAft>
              <a:buFont typeface="Arial" panose="020B0604020202020204" pitchFamily="34" charset="0"/>
              <a:buChar char="•"/>
            </a:pPr>
            <a:r>
              <a:rPr lang="en-US" sz="1400" b="0" i="1" dirty="0">
                <a:solidFill>
                  <a:srgbClr val="000000"/>
                </a:solidFill>
                <a:latin typeface="NVIDIA-NALA"/>
                <a:ea typeface="+mj-ea"/>
                <a:cs typeface="+mj-cs"/>
              </a:rPr>
              <a:t>module load &lt;mod&gt; </a:t>
            </a:r>
            <a:r>
              <a:rPr lang="en-US" sz="1400" b="0" dirty="0">
                <a:solidFill>
                  <a:srgbClr val="000000"/>
                </a:solidFill>
                <a:latin typeface="NVIDIA-NALA"/>
                <a:ea typeface="+mj-ea"/>
                <a:cs typeface="+mj-cs"/>
              </a:rPr>
              <a:t>- load &lt;mod&gt; in the shell environment</a:t>
            </a:r>
          </a:p>
          <a:p>
            <a:pPr marL="171450" indent="-171450" algn="l">
              <a:lnSpc>
                <a:spcPts val="1800"/>
              </a:lnSpc>
              <a:spcAft>
                <a:spcPts val="1800"/>
              </a:spcAft>
              <a:buFont typeface="Arial" panose="020B0604020202020204" pitchFamily="34" charset="0"/>
              <a:buChar char="•"/>
            </a:pPr>
            <a:r>
              <a:rPr lang="en-US" sz="1400" b="0" i="1" dirty="0">
                <a:solidFill>
                  <a:srgbClr val="000000"/>
                </a:solidFill>
                <a:latin typeface="NVIDIA-NALA"/>
                <a:ea typeface="+mj-ea"/>
                <a:cs typeface="+mj-cs"/>
              </a:rPr>
              <a:t>module list </a:t>
            </a:r>
            <a:r>
              <a:rPr lang="en-US" sz="1400" b="0" dirty="0">
                <a:solidFill>
                  <a:srgbClr val="000000"/>
                </a:solidFill>
                <a:latin typeface="NVIDIA-NALA"/>
                <a:ea typeface="+mj-ea"/>
                <a:cs typeface="+mj-cs"/>
              </a:rPr>
              <a:t>- show a list of all loaded modules</a:t>
            </a:r>
          </a:p>
          <a:p>
            <a:pPr marL="171450" indent="-171450" algn="l">
              <a:lnSpc>
                <a:spcPts val="1800"/>
              </a:lnSpc>
              <a:spcAft>
                <a:spcPts val="1800"/>
              </a:spcAft>
              <a:buFont typeface="Arial" panose="020B0604020202020204" pitchFamily="34" charset="0"/>
              <a:buChar char="•"/>
            </a:pPr>
            <a:r>
              <a:rPr lang="en-US" sz="1400" b="0" i="1" dirty="0">
                <a:solidFill>
                  <a:srgbClr val="000000"/>
                </a:solidFill>
                <a:latin typeface="NVIDIA-NALA"/>
                <a:ea typeface="+mj-ea"/>
                <a:cs typeface="+mj-cs"/>
              </a:rPr>
              <a:t>module unload &lt;mod&gt; </a:t>
            </a:r>
            <a:r>
              <a:rPr lang="en-US" sz="1400" b="0" dirty="0">
                <a:solidFill>
                  <a:srgbClr val="000000"/>
                </a:solidFill>
                <a:latin typeface="NVIDIA-NALA"/>
                <a:ea typeface="+mj-ea"/>
                <a:cs typeface="+mj-cs"/>
              </a:rPr>
              <a:t>- remove &lt;mod&gt; from the environment</a:t>
            </a:r>
          </a:p>
          <a:p>
            <a:pPr marL="171450" indent="-171450" algn="l">
              <a:lnSpc>
                <a:spcPts val="1800"/>
              </a:lnSpc>
              <a:spcAft>
                <a:spcPts val="1800"/>
              </a:spcAft>
              <a:buFont typeface="Arial" panose="020B0604020202020204" pitchFamily="34" charset="0"/>
              <a:buChar char="•"/>
            </a:pPr>
            <a:r>
              <a:rPr lang="en-US" sz="1400" b="0" i="1" dirty="0">
                <a:solidFill>
                  <a:srgbClr val="000000"/>
                </a:solidFill>
                <a:latin typeface="NVIDIA-NALA"/>
                <a:ea typeface="+mj-ea"/>
                <a:cs typeface="+mj-cs"/>
              </a:rPr>
              <a:t>module purge </a:t>
            </a:r>
            <a:r>
              <a:rPr lang="en-US" sz="1400" b="0" dirty="0">
                <a:solidFill>
                  <a:srgbClr val="000000"/>
                </a:solidFill>
                <a:latin typeface="NVIDIA-NALA"/>
                <a:ea typeface="+mj-ea"/>
                <a:cs typeface="+mj-cs"/>
              </a:rPr>
              <a:t>- unload all modules</a:t>
            </a:r>
          </a:p>
          <a:p>
            <a:pPr marL="171450" indent="-171450" algn="l">
              <a:lnSpc>
                <a:spcPts val="1800"/>
              </a:lnSpc>
              <a:spcAft>
                <a:spcPts val="1800"/>
              </a:spcAft>
              <a:buFont typeface="Arial" panose="020B0604020202020204" pitchFamily="34" charset="0"/>
              <a:buChar char="•"/>
            </a:pPr>
            <a:r>
              <a:rPr lang="en-US" sz="1400" b="0" i="1" dirty="0">
                <a:solidFill>
                  <a:srgbClr val="000000"/>
                </a:solidFill>
                <a:latin typeface="NVIDIA-NALA"/>
                <a:ea typeface="+mj-ea"/>
                <a:cs typeface="+mj-cs"/>
              </a:rPr>
              <a:t>module </a:t>
            </a:r>
            <a:r>
              <a:rPr lang="en-US" sz="1400" b="0" i="1" dirty="0" err="1">
                <a:solidFill>
                  <a:srgbClr val="000000"/>
                </a:solidFill>
                <a:latin typeface="NVIDIA-NALA"/>
                <a:ea typeface="+mj-ea"/>
                <a:cs typeface="+mj-cs"/>
              </a:rPr>
              <a:t>whatis</a:t>
            </a:r>
            <a:r>
              <a:rPr lang="en-US" sz="1400" b="0" i="1" dirty="0">
                <a:solidFill>
                  <a:srgbClr val="000000"/>
                </a:solidFill>
                <a:latin typeface="NVIDIA-NALA"/>
                <a:ea typeface="+mj-ea"/>
                <a:cs typeface="+mj-cs"/>
              </a:rPr>
              <a:t> &lt;mod&gt; </a:t>
            </a:r>
            <a:r>
              <a:rPr lang="en-US" sz="1400" b="0" dirty="0">
                <a:solidFill>
                  <a:srgbClr val="000000"/>
                </a:solidFill>
                <a:latin typeface="NVIDIA-NALA"/>
                <a:ea typeface="+mj-ea"/>
                <a:cs typeface="+mj-cs"/>
              </a:rPr>
              <a:t>- show information about &lt;mod&gt; </a:t>
            </a:r>
            <a:endParaRPr lang="en-US" sz="1400" dirty="0">
              <a:solidFill>
                <a:srgbClr val="000000"/>
              </a:solidFill>
              <a:latin typeface="NVIDIA-NALA"/>
              <a:ea typeface="+mj-ea"/>
              <a:cs typeface="+mj-cs"/>
            </a:endParaRPr>
          </a:p>
        </p:txBody>
      </p:sp>
      <p:pic>
        <p:nvPicPr>
          <p:cNvPr id="14" name="Picture 13">
            <a:extLst>
              <a:ext uri="{FF2B5EF4-FFF2-40B4-BE49-F238E27FC236}">
                <a16:creationId xmlns:a16="http://schemas.microsoft.com/office/drawing/2014/main" id="{50AE4F9E-1282-BF8A-64A0-671D7AC769C3}"/>
              </a:ext>
            </a:extLst>
          </p:cNvPr>
          <p:cNvPicPr>
            <a:picLocks noChangeAspect="1"/>
          </p:cNvPicPr>
          <p:nvPr/>
        </p:nvPicPr>
        <p:blipFill>
          <a:blip r:embed="rId3"/>
          <a:stretch>
            <a:fillRect/>
          </a:stretch>
        </p:blipFill>
        <p:spPr>
          <a:xfrm>
            <a:off x="5304928" y="1052547"/>
            <a:ext cx="3603748" cy="3515852"/>
          </a:xfrm>
          <a:prstGeom prst="rect">
            <a:avLst/>
          </a:prstGeom>
        </p:spPr>
      </p:pic>
    </p:spTree>
    <p:extLst>
      <p:ext uri="{BB962C8B-B14F-4D97-AF65-F5344CB8AC3E}">
        <p14:creationId xmlns:p14="http://schemas.microsoft.com/office/powerpoint/2010/main" val="236808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4E81-8B62-EEEC-A746-87C93EE14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D0B3B-C16A-DA55-1254-D7236A53C902}"/>
              </a:ext>
            </a:extLst>
          </p:cNvPr>
          <p:cNvSpPr>
            <a:spLocks noGrp="1"/>
          </p:cNvSpPr>
          <p:nvPr>
            <p:ph type="title"/>
          </p:nvPr>
        </p:nvSpPr>
        <p:spPr>
          <a:xfrm>
            <a:off x="758825" y="518400"/>
            <a:ext cx="7556500" cy="322041"/>
          </a:xfrm>
        </p:spPr>
        <p:txBody>
          <a:bodyPr anchor="t">
            <a:normAutofit fontScale="90000"/>
          </a:bodyPr>
          <a:lstStyle/>
          <a:p>
            <a:r>
              <a:rPr lang="en-US" dirty="0"/>
              <a:t>Use of library – what if the library is not available?</a:t>
            </a:r>
          </a:p>
        </p:txBody>
      </p:sp>
      <p:sp>
        <p:nvSpPr>
          <p:cNvPr id="5" name="Slide Number Placeholder 4">
            <a:extLst>
              <a:ext uri="{FF2B5EF4-FFF2-40B4-BE49-F238E27FC236}">
                <a16:creationId xmlns:a16="http://schemas.microsoft.com/office/drawing/2014/main" id="{3EC42842-EEB9-B277-81A7-5A951B56EFD2}"/>
              </a:ext>
            </a:extLst>
          </p:cNvPr>
          <p:cNvSpPr>
            <a:spLocks noGrp="1"/>
          </p:cNvSpPr>
          <p:nvPr>
            <p:ph type="sldNum" sz="quarter" idx="12"/>
          </p:nvPr>
        </p:nvSpPr>
        <p:spPr>
          <a:xfrm>
            <a:off x="2" y="4468373"/>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7A24DEAC-776B-D48F-283D-D29458B7175B}"/>
              </a:ext>
            </a:extLst>
          </p:cNvPr>
          <p:cNvPicPr>
            <a:picLocks noChangeAspect="1"/>
          </p:cNvPicPr>
          <p:nvPr/>
        </p:nvPicPr>
        <p:blipFill>
          <a:blip r:embed="rId2"/>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F4D43251-DCB6-6B61-4FAB-81C57D6BF48B}"/>
              </a:ext>
            </a:extLst>
          </p:cNvPr>
          <p:cNvSpPr txBox="1">
            <a:spLocks/>
          </p:cNvSpPr>
          <p:nvPr/>
        </p:nvSpPr>
        <p:spPr>
          <a:xfrm>
            <a:off x="472659" y="1054870"/>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400" b="0" dirty="0">
                <a:solidFill>
                  <a:srgbClr val="000000"/>
                </a:solidFill>
                <a:latin typeface="NVIDIA-NALA"/>
              </a:rPr>
              <a:t>If the package you need is not included in existing modules, first create a virtual environment before pip install</a:t>
            </a:r>
          </a:p>
          <a:p>
            <a:pPr marL="685800" lvl="1" indent="-342900">
              <a:lnSpc>
                <a:spcPts val="1800"/>
              </a:lnSpc>
              <a:spcAft>
                <a:spcPts val="1800"/>
              </a:spcAft>
              <a:buFont typeface="+mj-lt"/>
              <a:buAutoNum type="arabicParenR"/>
            </a:pPr>
            <a:r>
              <a:rPr lang="en-US" sz="1400" i="1" dirty="0">
                <a:solidFill>
                  <a:srgbClr val="000000"/>
                </a:solidFill>
                <a:latin typeface="NVIDIA-NALA"/>
                <a:ea typeface="+mj-ea"/>
                <a:cs typeface="+mj-cs"/>
              </a:rPr>
              <a:t>python -m </a:t>
            </a:r>
            <a:r>
              <a:rPr lang="en-US" sz="1400" i="1" dirty="0" err="1">
                <a:solidFill>
                  <a:srgbClr val="000000"/>
                </a:solidFill>
                <a:latin typeface="NVIDIA-NALA"/>
                <a:ea typeface="+mj-ea"/>
                <a:cs typeface="+mj-cs"/>
              </a:rPr>
              <a:t>venv</a:t>
            </a:r>
            <a:r>
              <a:rPr lang="en-US" sz="1400" i="1" dirty="0">
                <a:solidFill>
                  <a:srgbClr val="000000"/>
                </a:solidFill>
                <a:latin typeface="NVIDIA-NALA"/>
                <a:ea typeface="+mj-ea"/>
                <a:cs typeface="+mj-cs"/>
              </a:rPr>
              <a:t> </a:t>
            </a:r>
            <a:r>
              <a:rPr lang="en-US" sz="1400" i="1" dirty="0" err="1">
                <a:solidFill>
                  <a:srgbClr val="000000"/>
                </a:solidFill>
                <a:latin typeface="NVIDIA-NALA"/>
                <a:ea typeface="+mj-ea"/>
                <a:cs typeface="+mj-cs"/>
              </a:rPr>
              <a:t>my_venv</a:t>
            </a:r>
            <a:endParaRPr lang="en-US" sz="1400" i="1" dirty="0">
              <a:solidFill>
                <a:srgbClr val="000000"/>
              </a:solidFill>
              <a:latin typeface="NVIDIA-NALA"/>
              <a:ea typeface="+mj-ea"/>
              <a:cs typeface="+mj-cs"/>
            </a:endParaRPr>
          </a:p>
          <a:p>
            <a:pPr marL="685800" lvl="1" indent="-342900">
              <a:lnSpc>
                <a:spcPts val="1800"/>
              </a:lnSpc>
              <a:spcAft>
                <a:spcPts val="1800"/>
              </a:spcAft>
              <a:buFont typeface="+mj-lt"/>
              <a:buAutoNum type="arabicParenR"/>
            </a:pPr>
            <a:r>
              <a:rPr lang="en-US" sz="1400" i="1" dirty="0">
                <a:solidFill>
                  <a:srgbClr val="000000"/>
                </a:solidFill>
                <a:latin typeface="NVIDIA-NALA"/>
                <a:ea typeface="+mj-ea"/>
                <a:cs typeface="+mj-cs"/>
              </a:rPr>
              <a:t>source </a:t>
            </a:r>
            <a:r>
              <a:rPr lang="en-US" sz="1400" i="1" dirty="0" err="1">
                <a:solidFill>
                  <a:srgbClr val="000000"/>
                </a:solidFill>
                <a:latin typeface="NVIDIA-NALA"/>
                <a:ea typeface="+mj-ea"/>
                <a:cs typeface="+mj-cs"/>
              </a:rPr>
              <a:t>my_venv</a:t>
            </a:r>
            <a:r>
              <a:rPr lang="en-US" sz="1400" i="1" dirty="0">
                <a:solidFill>
                  <a:srgbClr val="000000"/>
                </a:solidFill>
                <a:latin typeface="NVIDIA-NALA"/>
                <a:ea typeface="+mj-ea"/>
                <a:cs typeface="+mj-cs"/>
              </a:rPr>
              <a:t>/bin/activate</a:t>
            </a:r>
          </a:p>
          <a:p>
            <a:pPr marL="685800" lvl="1" indent="-342900">
              <a:lnSpc>
                <a:spcPts val="1800"/>
              </a:lnSpc>
              <a:spcAft>
                <a:spcPts val="1800"/>
              </a:spcAft>
              <a:buFont typeface="+mj-lt"/>
              <a:buAutoNum type="arabicParenR"/>
            </a:pPr>
            <a:r>
              <a:rPr lang="en-US" sz="1400" i="1" dirty="0">
                <a:solidFill>
                  <a:srgbClr val="000000"/>
                </a:solidFill>
                <a:latin typeface="NVIDIA-NALA"/>
                <a:ea typeface="+mj-ea"/>
                <a:cs typeface="+mj-cs"/>
              </a:rPr>
              <a:t>pip install…</a:t>
            </a:r>
          </a:p>
        </p:txBody>
      </p:sp>
      <p:pic>
        <p:nvPicPr>
          <p:cNvPr id="6" name="Picture 5">
            <a:extLst>
              <a:ext uri="{FF2B5EF4-FFF2-40B4-BE49-F238E27FC236}">
                <a16:creationId xmlns:a16="http://schemas.microsoft.com/office/drawing/2014/main" id="{4F4F6EC3-30B1-92BA-CE16-0617EF804817}"/>
              </a:ext>
            </a:extLst>
          </p:cNvPr>
          <p:cNvPicPr>
            <a:picLocks noChangeAspect="1"/>
          </p:cNvPicPr>
          <p:nvPr/>
        </p:nvPicPr>
        <p:blipFill>
          <a:blip r:embed="rId3"/>
          <a:stretch>
            <a:fillRect/>
          </a:stretch>
        </p:blipFill>
        <p:spPr>
          <a:xfrm>
            <a:off x="1114426" y="3057954"/>
            <a:ext cx="6668078" cy="251482"/>
          </a:xfrm>
          <a:prstGeom prst="rect">
            <a:avLst/>
          </a:prstGeom>
        </p:spPr>
      </p:pic>
      <p:pic>
        <p:nvPicPr>
          <p:cNvPr id="10" name="Picture 9">
            <a:extLst>
              <a:ext uri="{FF2B5EF4-FFF2-40B4-BE49-F238E27FC236}">
                <a16:creationId xmlns:a16="http://schemas.microsoft.com/office/drawing/2014/main" id="{57F55254-59E1-41BA-663F-8DC4C74DC25F}"/>
              </a:ext>
            </a:extLst>
          </p:cNvPr>
          <p:cNvPicPr>
            <a:picLocks noChangeAspect="1"/>
          </p:cNvPicPr>
          <p:nvPr/>
        </p:nvPicPr>
        <p:blipFill>
          <a:blip r:embed="rId4"/>
          <a:stretch>
            <a:fillRect/>
          </a:stretch>
        </p:blipFill>
        <p:spPr>
          <a:xfrm>
            <a:off x="1114426" y="3295245"/>
            <a:ext cx="6911939" cy="228620"/>
          </a:xfrm>
          <a:prstGeom prst="rect">
            <a:avLst/>
          </a:prstGeom>
        </p:spPr>
      </p:pic>
    </p:spTree>
    <p:extLst>
      <p:ext uri="{BB962C8B-B14F-4D97-AF65-F5344CB8AC3E}">
        <p14:creationId xmlns:p14="http://schemas.microsoft.com/office/powerpoint/2010/main" val="111315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14B7-FD08-B70D-2721-2BBB124B0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CB28D-7686-2C3A-A0FD-EDE8ECB32BFE}"/>
              </a:ext>
            </a:extLst>
          </p:cNvPr>
          <p:cNvSpPr>
            <a:spLocks noGrp="1"/>
          </p:cNvSpPr>
          <p:nvPr>
            <p:ph type="title"/>
          </p:nvPr>
        </p:nvSpPr>
        <p:spPr>
          <a:xfrm>
            <a:off x="758825" y="518400"/>
            <a:ext cx="7556500" cy="322041"/>
          </a:xfrm>
        </p:spPr>
        <p:txBody>
          <a:bodyPr anchor="t">
            <a:normAutofit fontScale="90000"/>
          </a:bodyPr>
          <a:lstStyle/>
          <a:p>
            <a:r>
              <a:rPr lang="en-US" dirty="0"/>
              <a:t>Submit your jobs on </a:t>
            </a:r>
            <a:r>
              <a:rPr lang="en-US" dirty="0" err="1"/>
              <a:t>Snellius</a:t>
            </a:r>
            <a:endParaRPr lang="en-US" dirty="0"/>
          </a:p>
        </p:txBody>
      </p:sp>
      <p:sp>
        <p:nvSpPr>
          <p:cNvPr id="5" name="Slide Number Placeholder 4">
            <a:extLst>
              <a:ext uri="{FF2B5EF4-FFF2-40B4-BE49-F238E27FC236}">
                <a16:creationId xmlns:a16="http://schemas.microsoft.com/office/drawing/2014/main" id="{185BB8C1-845B-40E2-3726-670B7FA9EC27}"/>
              </a:ext>
            </a:extLst>
          </p:cNvPr>
          <p:cNvSpPr>
            <a:spLocks noGrp="1"/>
          </p:cNvSpPr>
          <p:nvPr>
            <p:ph type="sldNum" sz="quarter" idx="12"/>
          </p:nvPr>
        </p:nvSpPr>
        <p:spPr>
          <a:xfrm>
            <a:off x="2" y="4500219"/>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3CFAE71B-D49A-1FD9-2E55-BB6F501A47AE}"/>
              </a:ext>
            </a:extLst>
          </p:cNvPr>
          <p:cNvPicPr>
            <a:picLocks noChangeAspect="1"/>
          </p:cNvPicPr>
          <p:nvPr/>
        </p:nvPicPr>
        <p:blipFill>
          <a:blip r:embed="rId2"/>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59A49A95-A07F-717F-D234-2369BB2F094C}"/>
              </a:ext>
            </a:extLst>
          </p:cNvPr>
          <p:cNvSpPr txBox="1">
            <a:spLocks/>
          </p:cNvSpPr>
          <p:nvPr/>
        </p:nvSpPr>
        <p:spPr>
          <a:xfrm>
            <a:off x="472659" y="1054870"/>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400" b="0" dirty="0">
                <a:solidFill>
                  <a:srgbClr val="000000"/>
                </a:solidFill>
                <a:ea typeface="+mj-ea"/>
                <a:cs typeface="+mj-cs"/>
              </a:rPr>
              <a:t>Create a batch </a:t>
            </a:r>
            <a:r>
              <a:rPr lang="en-US" sz="1400" b="0" dirty="0">
                <a:solidFill>
                  <a:srgbClr val="000000"/>
                </a:solidFill>
              </a:rPr>
              <a:t>job script, for an example look</a:t>
            </a:r>
            <a:r>
              <a:rPr lang="en-US" sz="1400" b="0" i="1" dirty="0">
                <a:solidFill>
                  <a:srgbClr val="000000"/>
                </a:solidFill>
              </a:rPr>
              <a:t> </a:t>
            </a:r>
            <a:r>
              <a:rPr lang="en-US" sz="1400" dirty="0"/>
              <a:t>example.sh </a:t>
            </a:r>
            <a:r>
              <a:rPr lang="en-US" sz="1400" b="0" dirty="0"/>
              <a:t>(cat example.sh)</a:t>
            </a:r>
            <a:r>
              <a:rPr lang="en-US" sz="1400" b="0" i="1" dirty="0">
                <a:solidFill>
                  <a:srgbClr val="000000"/>
                </a:solidFill>
              </a:rPr>
              <a:t> </a:t>
            </a:r>
            <a:r>
              <a:rPr lang="en-US" sz="1400" b="0" dirty="0">
                <a:solidFill>
                  <a:srgbClr val="000000"/>
                </a:solidFill>
              </a:rPr>
              <a:t>in </a:t>
            </a:r>
            <a:r>
              <a:rPr lang="en-US" sz="1400" b="1" dirty="0" err="1"/>
              <a:t>snellius-introduction.git</a:t>
            </a:r>
            <a:endParaRPr lang="en-US" sz="1400" b="1" dirty="0"/>
          </a:p>
          <a:p>
            <a:pPr algn="l">
              <a:lnSpc>
                <a:spcPts val="1800"/>
              </a:lnSpc>
              <a:spcAft>
                <a:spcPts val="1800"/>
              </a:spcAft>
            </a:pPr>
            <a:r>
              <a:rPr lang="en-US" sz="1400" b="0" dirty="0"/>
              <a:t> </a:t>
            </a:r>
            <a:endParaRPr lang="en-US" sz="1400" b="0" i="1" dirty="0"/>
          </a:p>
          <a:p>
            <a:pPr marL="171450" indent="-171450" algn="l">
              <a:lnSpc>
                <a:spcPts val="1800"/>
              </a:lnSpc>
              <a:spcAft>
                <a:spcPts val="1800"/>
              </a:spcAft>
              <a:buFont typeface="Arial" panose="020B0604020202020204" pitchFamily="34" charset="0"/>
              <a:buChar char="•"/>
            </a:pPr>
            <a:endParaRPr lang="en-US" sz="1400" b="0" dirty="0">
              <a:solidFill>
                <a:srgbClr val="000000"/>
              </a:solidFill>
              <a:latin typeface="NVIDIA-NALA"/>
            </a:endParaRPr>
          </a:p>
          <a:p>
            <a:pPr marL="171450" indent="-171450" algn="l">
              <a:lnSpc>
                <a:spcPts val="1800"/>
              </a:lnSpc>
              <a:spcAft>
                <a:spcPts val="1800"/>
              </a:spcAft>
              <a:buFont typeface="Arial" panose="020B0604020202020204" pitchFamily="34" charset="0"/>
              <a:buChar char="•"/>
            </a:pPr>
            <a:endParaRPr lang="en-US" sz="1400" dirty="0">
              <a:solidFill>
                <a:srgbClr val="000000"/>
              </a:solidFill>
              <a:latin typeface="NVIDIA-NALA"/>
              <a:ea typeface="+mj-ea"/>
              <a:cs typeface="+mj-cs"/>
            </a:endParaRPr>
          </a:p>
        </p:txBody>
      </p:sp>
      <p:sp>
        <p:nvSpPr>
          <p:cNvPr id="7" name="Rectangle 3">
            <a:extLst>
              <a:ext uri="{FF2B5EF4-FFF2-40B4-BE49-F238E27FC236}">
                <a16:creationId xmlns:a16="http://schemas.microsoft.com/office/drawing/2014/main" id="{291F349D-C156-E0F3-34DB-5791CCA71D8B}"/>
              </a:ext>
            </a:extLst>
          </p:cNvPr>
          <p:cNvSpPr>
            <a:spLocks noChangeArrowheads="1"/>
          </p:cNvSpPr>
          <p:nvPr/>
        </p:nvSpPr>
        <p:spPr bwMode="auto">
          <a:xfrm>
            <a:off x="557214" y="1398302"/>
            <a:ext cx="4965472" cy="3070071"/>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#!/bin/bash</a:t>
            </a:r>
            <a:endParaRPr kumimoji="0" lang="en-US" altLang="LID4096" sz="1050" b="0" i="1" u="none" strike="noStrike" cap="none" normalizeH="0" baseline="0" dirty="0">
              <a:ln>
                <a:noFill/>
              </a:ln>
              <a:solidFill>
                <a:srgbClr val="3D7B7B"/>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--partition=gpu_mig</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--gpus=1</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--job-name=CheckEnvironment</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--ntasks=1</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--cpus-per-task=9</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--time=00:05:00</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1" u="none" strike="noStrike" cap="none" normalizeH="0" baseline="0" dirty="0">
                <a:ln>
                  <a:noFill/>
                </a:ln>
                <a:solidFill>
                  <a:srgbClr val="3D7B7B"/>
                </a:solidFill>
                <a:effectLst/>
                <a:latin typeface="Arial Unicode MS"/>
                <a:ea typeface="SFMono-Regular"/>
              </a:rPr>
              <a:t>#SBATCH --output=slurm_output_%A.</a:t>
            </a:r>
            <a:r>
              <a:rPr kumimoji="0" lang="en-US" altLang="LID4096" sz="1050" b="0" i="1" u="none" strike="noStrike" cap="none" normalizeH="0" baseline="0" dirty="0">
                <a:ln>
                  <a:noFill/>
                </a:ln>
                <a:solidFill>
                  <a:srgbClr val="3D7B7B"/>
                </a:solidFill>
                <a:effectLst/>
                <a:latin typeface="Arial Unicode MS"/>
                <a:ea typeface="SFMono-Regular"/>
              </a:rPr>
              <a:t>txt</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defTabSz="914400" eaLnBrk="0" fontAlgn="base" hangingPunct="0">
              <a:spcBef>
                <a:spcPct val="0"/>
              </a:spcBef>
              <a:spcAft>
                <a:spcPct val="0"/>
              </a:spcAft>
            </a:pPr>
            <a:r>
              <a:rPr kumimoji="0" lang="LID4096" altLang="LID4096" sz="1050" b="0" i="1" u="none" strike="noStrike" cap="none" normalizeH="0" baseline="0" dirty="0">
                <a:ln>
                  <a:noFill/>
                </a:ln>
                <a:solidFill>
                  <a:srgbClr val="3D7B7B"/>
                </a:solidFill>
                <a:effectLst/>
                <a:latin typeface="Arial Unicode MS"/>
                <a:ea typeface="SFMono-Regular"/>
              </a:rPr>
              <a:t>#SBATCH --</a:t>
            </a:r>
            <a:r>
              <a:rPr kumimoji="0" lang="en-US" altLang="LID4096" sz="1050" b="0" i="1" u="none" strike="noStrike" cap="none" normalizeH="0" baseline="0" dirty="0">
                <a:ln>
                  <a:noFill/>
                </a:ln>
                <a:solidFill>
                  <a:srgbClr val="3D7B7B"/>
                </a:solidFill>
                <a:effectLst/>
                <a:latin typeface="Arial Unicode MS"/>
                <a:ea typeface="SFMono-Regular"/>
              </a:rPr>
              <a:t>error</a:t>
            </a:r>
            <a:r>
              <a:rPr kumimoji="0" lang="LID4096" altLang="LID4096" sz="1050" b="0" i="1" u="none" strike="noStrike" cap="none" normalizeH="0" baseline="0" dirty="0">
                <a:ln>
                  <a:noFill/>
                </a:ln>
                <a:solidFill>
                  <a:srgbClr val="3D7B7B"/>
                </a:solidFill>
                <a:effectLst/>
                <a:latin typeface="Arial Unicode MS"/>
                <a:ea typeface="SFMono-Regular"/>
              </a:rPr>
              <a:t>=slurm_</a:t>
            </a:r>
            <a:r>
              <a:rPr kumimoji="0" lang="en-US" altLang="LID4096" sz="1050" b="0" i="1" u="none" strike="noStrike" cap="none" normalizeH="0" baseline="0" dirty="0">
                <a:ln>
                  <a:noFill/>
                </a:ln>
                <a:solidFill>
                  <a:srgbClr val="3D7B7B"/>
                </a:solidFill>
                <a:effectLst/>
                <a:latin typeface="Arial Unicode MS"/>
                <a:ea typeface="SFMono-Regular"/>
              </a:rPr>
              <a:t>error</a:t>
            </a:r>
            <a:r>
              <a:rPr kumimoji="0" lang="LID4096" altLang="LID4096" sz="1050" b="0" i="1" u="none" strike="noStrike" cap="none" normalizeH="0" baseline="0" dirty="0">
                <a:ln>
                  <a:noFill/>
                </a:ln>
                <a:solidFill>
                  <a:srgbClr val="3D7B7B"/>
                </a:solidFill>
                <a:effectLst/>
                <a:latin typeface="Arial Unicode MS"/>
                <a:ea typeface="SFMono-Regular"/>
              </a:rPr>
              <a:t>_%A.</a:t>
            </a:r>
            <a:r>
              <a:rPr kumimoji="0" lang="en-US" altLang="LID4096" sz="1050" b="0" i="1" u="none" strike="noStrike" cap="none" normalizeH="0" baseline="0" dirty="0">
                <a:ln>
                  <a:noFill/>
                </a:ln>
                <a:solidFill>
                  <a:srgbClr val="3D7B7B"/>
                </a:solidFill>
                <a:effectLst/>
                <a:latin typeface="Arial Unicode MS"/>
                <a:ea typeface="SFMono-Regular"/>
              </a:rPr>
              <a:t>txt</a:t>
            </a:r>
            <a:r>
              <a:rPr kumimoji="0" lang="LID4096" altLang="LID4096" sz="1050" b="0" i="0" u="none" strike="noStrike" cap="none" normalizeH="0" baseline="0" dirty="0">
                <a:ln>
                  <a:noFill/>
                </a:ln>
                <a:solidFill>
                  <a:srgbClr val="404040"/>
                </a:solidFill>
                <a:effectLst/>
                <a:latin typeface="Arial Unicode MS"/>
                <a:ea typeface="SFMono-Regular"/>
              </a:rPr>
              <a:t> </a:t>
            </a: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LID4096" sz="1050" dirty="0">
              <a:solidFill>
                <a:srgbClr val="404040"/>
              </a:solidFill>
              <a:latin typeface="Arial Unicode MS"/>
              <a:ea typeface="SFMono-Regular"/>
            </a:endParaRPr>
          </a:p>
          <a:p>
            <a:pPr defTabSz="914400" eaLnBrk="0" fontAlgn="base" hangingPunct="0">
              <a:spcBef>
                <a:spcPct val="0"/>
              </a:spcBef>
              <a:spcAft>
                <a:spcPct val="0"/>
              </a:spcAft>
            </a:pPr>
            <a:r>
              <a:rPr lang="en-US" altLang="LID4096" sz="1050" i="1" dirty="0">
                <a:solidFill>
                  <a:srgbClr val="3D7B7B"/>
                </a:solidFill>
                <a:latin typeface="Arial Unicode MS"/>
              </a:rPr>
              <a:t># Load necessary modules (adjust based on your environment)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0" u="none" strike="noStrike" cap="none" normalizeH="0" baseline="0" dirty="0">
                <a:ln>
                  <a:noFill/>
                </a:ln>
                <a:effectLst/>
                <a:latin typeface="Arial Unicode MS"/>
                <a:ea typeface="SFMono-Regular"/>
              </a:rPr>
              <a:t>module purge </a:t>
            </a:r>
            <a:endParaRPr kumimoji="0" lang="en-US" altLang="LID4096" sz="1050" b="0" i="0" u="none" strike="noStrike" cap="none" normalizeH="0" baseline="0" dirty="0">
              <a:ln>
                <a:noFill/>
              </a:ln>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0" u="none" strike="noStrike" cap="none" normalizeH="0" baseline="0" dirty="0">
                <a:ln>
                  <a:noFill/>
                </a:ln>
                <a:effectLst/>
                <a:latin typeface="Arial Unicode MS"/>
                <a:ea typeface="SFMono-Regular"/>
              </a:rPr>
              <a:t>module load 2023</a:t>
            </a:r>
            <a:endParaRPr kumimoji="0" lang="en-US" altLang="LID4096" sz="1050" b="0" i="0" u="none" strike="noStrike" cap="none" normalizeH="0" baseline="0" dirty="0">
              <a:ln>
                <a:noFill/>
              </a:ln>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050" b="0" i="0" u="none" strike="noStrike" cap="none" normalizeH="0" baseline="0" dirty="0">
                <a:ln>
                  <a:noFill/>
                </a:ln>
                <a:effectLst/>
                <a:latin typeface="Arial Unicode MS"/>
                <a:ea typeface="SFMono-Regular"/>
              </a:rPr>
              <a:t>module load </a:t>
            </a:r>
            <a:r>
              <a:rPr kumimoji="0" lang="en-US" altLang="LID4096" sz="1050" b="0" i="0" u="none" strike="noStrike" cap="none" normalizeH="0" baseline="0" dirty="0" err="1">
                <a:ln>
                  <a:noFill/>
                </a:ln>
                <a:effectLst/>
                <a:latin typeface="Arial Unicode MS"/>
                <a:ea typeface="SFMono-Regular"/>
              </a:rPr>
              <a:t>PyTorch</a:t>
            </a:r>
            <a:r>
              <a:rPr kumimoji="0" lang="en-US" altLang="LID4096" sz="1050" b="0" i="0" u="none" strike="noStrike" cap="none" normalizeH="0" baseline="0" dirty="0">
                <a:ln>
                  <a:noFill/>
                </a:ln>
                <a:effectLst/>
                <a:latin typeface="Arial Unicode MS"/>
                <a:ea typeface="SFMono-Regular"/>
              </a:rPr>
              <a:t>/2.1.2-foss-2023a-CUDA-12.1.1</a:t>
            </a:r>
            <a:r>
              <a:rPr kumimoji="0" lang="LID4096" altLang="LID4096" sz="1050" b="0" i="0" u="none" strike="noStrike" cap="none" normalizeH="0" baseline="0" dirty="0">
                <a:ln>
                  <a:noFill/>
                </a:ln>
                <a:effectLst/>
                <a:latin typeface="Arial Unicode MS"/>
                <a:ea typeface="SFMono-Regular"/>
              </a:rPr>
              <a:t> </a:t>
            </a:r>
            <a:endParaRPr kumimoji="0" lang="en-US" altLang="LID4096" sz="1050" b="0" i="0" u="none" strike="noStrike" cap="none" normalizeH="0" baseline="0" dirty="0">
              <a:ln>
                <a:noFill/>
              </a:ln>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LID4096" sz="1050" b="0" i="0" u="none" strike="noStrike" cap="none" normalizeH="0" baseline="0" dirty="0">
              <a:ln>
                <a:noFill/>
              </a:ln>
              <a:solidFill>
                <a:srgbClr val="404040"/>
              </a:solidFill>
              <a:effectLst/>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050" b="0" i="0" u="none" strike="noStrike" cap="none" normalizeH="0" baseline="0" dirty="0">
                <a:ln>
                  <a:noFill/>
                </a:ln>
                <a:effectLst/>
                <a:latin typeface="Arial Unicode MS"/>
                <a:ea typeface="SFMono-Regular"/>
              </a:rPr>
              <a:t>source </a:t>
            </a:r>
            <a:r>
              <a:rPr kumimoji="0" lang="en-US" altLang="LID4096" sz="1050" b="0" i="0" u="none" strike="noStrike" cap="none" normalizeH="0" baseline="0" dirty="0" err="1">
                <a:ln>
                  <a:noFill/>
                </a:ln>
                <a:effectLst/>
                <a:latin typeface="Arial Unicode MS"/>
                <a:ea typeface="SFMono-Regular"/>
              </a:rPr>
              <a:t>my_venv</a:t>
            </a:r>
            <a:r>
              <a:rPr kumimoji="0" lang="en-US" altLang="LID4096" sz="1050" b="0" i="0" u="none" strike="noStrike" cap="none" normalizeH="0" baseline="0" dirty="0">
                <a:ln>
                  <a:noFill/>
                </a:ln>
                <a:effectLst/>
                <a:latin typeface="Arial Unicode MS"/>
                <a:ea typeface="SFMono-Regular"/>
              </a:rPr>
              <a:t>/bin/activate </a:t>
            </a:r>
            <a:r>
              <a:rPr kumimoji="0" lang="en-US" altLang="LID4096" sz="1050" b="0" i="0" u="none" strike="noStrike" cap="none" normalizeH="0" baseline="0" dirty="0">
                <a:ln>
                  <a:noFill/>
                </a:ln>
                <a:solidFill>
                  <a:schemeClr val="bg1"/>
                </a:solidFill>
                <a:effectLst/>
                <a:latin typeface="Arial Unicode MS"/>
                <a:ea typeface="SFMono-Regular"/>
              </a:rPr>
              <a:t> </a:t>
            </a:r>
            <a:r>
              <a:rPr kumimoji="0" lang="LID4096" altLang="LID4096" sz="1050" b="0" i="1" u="none" strike="noStrike" cap="none" normalizeH="0" baseline="0" dirty="0">
                <a:ln>
                  <a:noFill/>
                </a:ln>
                <a:solidFill>
                  <a:srgbClr val="3D7B7B"/>
                </a:solidFill>
                <a:effectLst/>
                <a:latin typeface="Arial Unicode MS"/>
                <a:ea typeface="SFMono-Regular"/>
              </a:rPr>
              <a:t># </a:t>
            </a:r>
            <a:r>
              <a:rPr kumimoji="0" lang="en-US" altLang="LID4096" sz="1050" b="0" i="1" u="none" strike="noStrike" cap="none" normalizeH="0" baseline="0" dirty="0">
                <a:ln>
                  <a:noFill/>
                </a:ln>
                <a:solidFill>
                  <a:srgbClr val="3D7B7B"/>
                </a:solidFill>
                <a:effectLst/>
                <a:latin typeface="Arial Unicode MS"/>
                <a:ea typeface="SFMono-Regular"/>
              </a:rPr>
              <a:t>activate your virtual environment</a:t>
            </a:r>
          </a:p>
          <a:p>
            <a:pPr marL="0" marR="0" lvl="0" indent="0" algn="l" defTabSz="914400" rtl="0" eaLnBrk="0" fontAlgn="base" latinLnBrk="0" hangingPunct="0">
              <a:lnSpc>
                <a:spcPct val="100000"/>
              </a:lnSpc>
              <a:spcBef>
                <a:spcPct val="0"/>
              </a:spcBef>
              <a:spcAft>
                <a:spcPct val="0"/>
              </a:spcAft>
              <a:buClrTx/>
              <a:buSzTx/>
              <a:buFontTx/>
              <a:buNone/>
              <a:tabLst/>
            </a:pPr>
            <a:r>
              <a:rPr lang="en-US" altLang="LID4096" sz="1050" i="1" dirty="0">
                <a:solidFill>
                  <a:srgbClr val="3D7B7B"/>
                </a:solidFill>
                <a:latin typeface="Arial Unicode MS"/>
              </a:rPr>
              <a:t># pip install --no-cache-</a:t>
            </a:r>
            <a:r>
              <a:rPr lang="en-US" altLang="LID4096" sz="1050" i="1" dirty="0" err="1">
                <a:solidFill>
                  <a:srgbClr val="3D7B7B"/>
                </a:solidFill>
                <a:latin typeface="Arial Unicode MS"/>
              </a:rPr>
              <a:t>dir</a:t>
            </a:r>
            <a:r>
              <a:rPr lang="en-US" altLang="LID4096" sz="1050" i="1" dirty="0">
                <a:solidFill>
                  <a:srgbClr val="3D7B7B"/>
                </a:solidFill>
                <a:latin typeface="Arial Unicode MS"/>
              </a:rPr>
              <a:t> -r requirements.txt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LID4096" sz="1050" dirty="0">
              <a:solidFill>
                <a:srgbClr val="404040"/>
              </a:solidFill>
              <a:latin typeface="Arial Unicode MS"/>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050" b="0" i="0" u="none" strike="noStrike" cap="none" normalizeH="0" baseline="0" dirty="0">
                <a:ln>
                  <a:noFill/>
                </a:ln>
                <a:effectLst/>
                <a:latin typeface="Arial Unicode MS"/>
                <a:ea typeface="SFMono-Regular"/>
              </a:rPr>
              <a:t>srun python -uc </a:t>
            </a:r>
            <a:r>
              <a:rPr kumimoji="0" lang="LID4096" altLang="LID4096" sz="1050" b="0" i="0" u="none" strike="noStrike" cap="none" normalizeH="0" baseline="0" dirty="0">
                <a:ln>
                  <a:noFill/>
                </a:ln>
                <a:solidFill>
                  <a:srgbClr val="BA2121"/>
                </a:solidFill>
                <a:effectLst/>
                <a:latin typeface="Arial Unicode MS"/>
                <a:ea typeface="SFMono-Regular"/>
              </a:rPr>
              <a:t>"import torch; print('GPU available?', torch.cuda.is_available())"</a:t>
            </a:r>
            <a:r>
              <a:rPr kumimoji="0" lang="LID4096" altLang="LID4096" sz="800" b="0" i="0" u="none" strike="noStrike" cap="none" normalizeH="0" baseline="0" dirty="0">
                <a:ln>
                  <a:noFill/>
                </a:ln>
                <a:solidFill>
                  <a:schemeClr val="tx1"/>
                </a:solidFill>
                <a:effectLst/>
              </a:rPr>
              <a:t> </a:t>
            </a:r>
            <a:endParaRPr kumimoji="0" lang="LID4096" altLang="LID4096"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598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99CC-49C5-CB5A-0716-686C0DA04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C28D6-DA2E-C2EB-FD95-4AE720D17BA8}"/>
              </a:ext>
            </a:extLst>
          </p:cNvPr>
          <p:cNvSpPr>
            <a:spLocks noGrp="1"/>
          </p:cNvSpPr>
          <p:nvPr>
            <p:ph type="title"/>
          </p:nvPr>
        </p:nvSpPr>
        <p:spPr>
          <a:xfrm>
            <a:off x="758825" y="518400"/>
            <a:ext cx="7556500" cy="322041"/>
          </a:xfrm>
        </p:spPr>
        <p:txBody>
          <a:bodyPr anchor="t">
            <a:normAutofit fontScale="90000"/>
          </a:bodyPr>
          <a:lstStyle/>
          <a:p>
            <a:r>
              <a:rPr lang="en-US" dirty="0"/>
              <a:t>Submit your jobs on </a:t>
            </a:r>
            <a:r>
              <a:rPr lang="en-US" dirty="0" err="1"/>
              <a:t>Snellius</a:t>
            </a:r>
            <a:r>
              <a:rPr lang="en-US" dirty="0"/>
              <a:t> - exercise</a:t>
            </a:r>
          </a:p>
        </p:txBody>
      </p:sp>
      <p:sp>
        <p:nvSpPr>
          <p:cNvPr id="5" name="Slide Number Placeholder 4">
            <a:extLst>
              <a:ext uri="{FF2B5EF4-FFF2-40B4-BE49-F238E27FC236}">
                <a16:creationId xmlns:a16="http://schemas.microsoft.com/office/drawing/2014/main" id="{B3DFF76A-491D-7854-50E5-2BF491B73E0F}"/>
              </a:ext>
            </a:extLst>
          </p:cNvPr>
          <p:cNvSpPr>
            <a:spLocks noGrp="1"/>
          </p:cNvSpPr>
          <p:nvPr>
            <p:ph type="sldNum" sz="quarter" idx="12"/>
          </p:nvPr>
        </p:nvSpPr>
        <p:spPr>
          <a:xfrm>
            <a:off x="0" y="4468373"/>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9B3AF4E2-B926-1755-7E64-E0D7D48B8C6C}"/>
              </a:ext>
            </a:extLst>
          </p:cNvPr>
          <p:cNvPicPr>
            <a:picLocks noChangeAspect="1"/>
          </p:cNvPicPr>
          <p:nvPr/>
        </p:nvPicPr>
        <p:blipFill>
          <a:blip r:embed="rId2"/>
          <a:stretch>
            <a:fillRect/>
          </a:stretch>
        </p:blipFill>
        <p:spPr>
          <a:xfrm>
            <a:off x="813547" y="4468373"/>
            <a:ext cx="8330451" cy="200053"/>
          </a:xfrm>
          <a:prstGeom prst="rect">
            <a:avLst/>
          </a:prstGeom>
        </p:spPr>
      </p:pic>
      <p:pic>
        <p:nvPicPr>
          <p:cNvPr id="6" name="Picture 5">
            <a:extLst>
              <a:ext uri="{FF2B5EF4-FFF2-40B4-BE49-F238E27FC236}">
                <a16:creationId xmlns:a16="http://schemas.microsoft.com/office/drawing/2014/main" id="{5001DB50-2B9A-1B97-2970-D2540399211E}"/>
              </a:ext>
            </a:extLst>
          </p:cNvPr>
          <p:cNvPicPr>
            <a:picLocks noChangeAspect="1"/>
          </p:cNvPicPr>
          <p:nvPr/>
        </p:nvPicPr>
        <p:blipFill>
          <a:blip r:embed="rId3"/>
          <a:stretch>
            <a:fillRect/>
          </a:stretch>
        </p:blipFill>
        <p:spPr>
          <a:xfrm>
            <a:off x="5619093" y="2081639"/>
            <a:ext cx="3143689" cy="228632"/>
          </a:xfrm>
          <a:prstGeom prst="rect">
            <a:avLst/>
          </a:prstGeom>
        </p:spPr>
      </p:pic>
      <p:graphicFrame>
        <p:nvGraphicFramePr>
          <p:cNvPr id="4" name="Table 3">
            <a:extLst>
              <a:ext uri="{FF2B5EF4-FFF2-40B4-BE49-F238E27FC236}">
                <a16:creationId xmlns:a16="http://schemas.microsoft.com/office/drawing/2014/main" id="{8CD3E7E7-1EF2-8D2B-BECA-BBDD922DA976}"/>
              </a:ext>
            </a:extLst>
          </p:cNvPr>
          <p:cNvGraphicFramePr>
            <a:graphicFrameLocks noGrp="1"/>
          </p:cNvGraphicFramePr>
          <p:nvPr>
            <p:extLst>
              <p:ext uri="{D42A27DB-BD31-4B8C-83A1-F6EECF244321}">
                <p14:modId xmlns:p14="http://schemas.microsoft.com/office/powerpoint/2010/main" val="358157922"/>
              </p:ext>
            </p:extLst>
          </p:nvPr>
        </p:nvGraphicFramePr>
        <p:xfrm>
          <a:off x="281355" y="1682155"/>
          <a:ext cx="5240214" cy="2225040"/>
        </p:xfrm>
        <a:graphic>
          <a:graphicData uri="http://schemas.openxmlformats.org/drawingml/2006/table">
            <a:tbl>
              <a:tblPr firstRow="1" bandRow="1">
                <a:tableStyleId>{5C22544A-7EE6-4342-B048-85BDC9FD1C3A}</a:tableStyleId>
              </a:tblPr>
              <a:tblGrid>
                <a:gridCol w="2553984">
                  <a:extLst>
                    <a:ext uri="{9D8B030D-6E8A-4147-A177-3AD203B41FA5}">
                      <a16:colId xmlns:a16="http://schemas.microsoft.com/office/drawing/2014/main" val="2367203892"/>
                    </a:ext>
                  </a:extLst>
                </a:gridCol>
                <a:gridCol w="2686230">
                  <a:extLst>
                    <a:ext uri="{9D8B030D-6E8A-4147-A177-3AD203B41FA5}">
                      <a16:colId xmlns:a16="http://schemas.microsoft.com/office/drawing/2014/main" val="3030055219"/>
                    </a:ext>
                  </a:extLst>
                </a:gridCol>
              </a:tblGrid>
              <a:tr h="370840">
                <a:tc>
                  <a:txBody>
                    <a:bodyPr/>
                    <a:lstStyle/>
                    <a:p>
                      <a:r>
                        <a:rPr lang="en-US" dirty="0"/>
                        <a:t>Useful commands</a:t>
                      </a:r>
                      <a:endParaRPr lang="en-NL" dirty="0"/>
                    </a:p>
                  </a:txBody>
                  <a:tcPr/>
                </a:tc>
                <a:tc>
                  <a:txBody>
                    <a:bodyPr/>
                    <a:lstStyle/>
                    <a:p>
                      <a:r>
                        <a:rPr lang="en-US" dirty="0"/>
                        <a:t>Explained</a:t>
                      </a:r>
                      <a:endParaRPr lang="en-NL" dirty="0"/>
                    </a:p>
                  </a:txBody>
                  <a:tcPr/>
                </a:tc>
                <a:extLst>
                  <a:ext uri="{0D108BD9-81ED-4DB2-BD59-A6C34878D82A}">
                    <a16:rowId xmlns:a16="http://schemas.microsoft.com/office/drawing/2014/main" val="1928849516"/>
                  </a:ext>
                </a:extLst>
              </a:tr>
              <a:tr h="370840">
                <a:tc>
                  <a:txBody>
                    <a:bodyPr/>
                    <a:lstStyle/>
                    <a:p>
                      <a:r>
                        <a:rPr lang="en-US" sz="1200" b="0" i="1" kern="1200" dirty="0" err="1">
                          <a:solidFill>
                            <a:srgbClr val="000000"/>
                          </a:solidFill>
                          <a:latin typeface="NVIDIA-NALA"/>
                          <a:ea typeface="+mn-ea"/>
                          <a:cs typeface="+mn-cs"/>
                        </a:rPr>
                        <a:t>sbatch</a:t>
                      </a:r>
                      <a:r>
                        <a:rPr lang="en-US" sz="1200" b="0" i="1" kern="1200" dirty="0">
                          <a:solidFill>
                            <a:srgbClr val="000000"/>
                          </a:solidFill>
                          <a:latin typeface="NVIDIA-NALA"/>
                          <a:ea typeface="+mn-ea"/>
                          <a:cs typeface="+mn-cs"/>
                        </a:rPr>
                        <a:t> &lt;</a:t>
                      </a:r>
                      <a:r>
                        <a:rPr lang="en-US" sz="1200" b="0" i="1" kern="1200" dirty="0" err="1">
                          <a:solidFill>
                            <a:srgbClr val="000000"/>
                          </a:solidFill>
                          <a:latin typeface="NVIDIA-NALA"/>
                          <a:ea typeface="+mn-ea"/>
                          <a:cs typeface="+mn-cs"/>
                        </a:rPr>
                        <a:t>jobscript</a:t>
                      </a:r>
                      <a:r>
                        <a:rPr lang="en-US" sz="1200" b="0" i="1" kern="1200" dirty="0">
                          <a:solidFill>
                            <a:srgbClr val="000000"/>
                          </a:solidFill>
                          <a:latin typeface="NVIDIA-NALA"/>
                          <a:ea typeface="+mn-ea"/>
                          <a:cs typeface="+mn-cs"/>
                        </a:rPr>
                        <a:t>&gt; </a:t>
                      </a:r>
                      <a:endParaRPr lang="en-NL" dirty="0"/>
                    </a:p>
                  </a:txBody>
                  <a:tcPr/>
                </a:tc>
                <a:tc>
                  <a:txBody>
                    <a:bodyPr/>
                    <a:lstStyle/>
                    <a:p>
                      <a:r>
                        <a:rPr lang="en-US" sz="1200" b="0" kern="1200" dirty="0">
                          <a:solidFill>
                            <a:srgbClr val="000000"/>
                          </a:solidFill>
                          <a:latin typeface="NVIDIA-NALA"/>
                          <a:ea typeface="+mn-ea"/>
                          <a:cs typeface="+mn-cs"/>
                        </a:rPr>
                        <a:t>submit a job to the scheduler</a:t>
                      </a:r>
                      <a:endParaRPr lang="en-NL" dirty="0"/>
                    </a:p>
                  </a:txBody>
                  <a:tcPr/>
                </a:tc>
                <a:extLst>
                  <a:ext uri="{0D108BD9-81ED-4DB2-BD59-A6C34878D82A}">
                    <a16:rowId xmlns:a16="http://schemas.microsoft.com/office/drawing/2014/main" val="2245292106"/>
                  </a:ext>
                </a:extLst>
              </a:tr>
              <a:tr h="370840">
                <a:tc>
                  <a:txBody>
                    <a:bodyPr/>
                    <a:lstStyle/>
                    <a:p>
                      <a:r>
                        <a:rPr lang="en-US" sz="1200" b="0" i="1" kern="1200" dirty="0" err="1">
                          <a:solidFill>
                            <a:srgbClr val="000000"/>
                          </a:solidFill>
                          <a:latin typeface="NVIDIA-NALA"/>
                          <a:ea typeface="+mn-ea"/>
                          <a:cs typeface="+mn-cs"/>
                        </a:rPr>
                        <a:t>squeue</a:t>
                      </a:r>
                      <a:r>
                        <a:rPr lang="en-US" sz="1200" b="0" i="1" kern="1200" dirty="0">
                          <a:solidFill>
                            <a:srgbClr val="000000"/>
                          </a:solidFill>
                          <a:latin typeface="NVIDIA-NALA"/>
                          <a:ea typeface="+mn-ea"/>
                          <a:cs typeface="+mn-cs"/>
                        </a:rPr>
                        <a:t> -j &lt;</a:t>
                      </a:r>
                      <a:r>
                        <a:rPr lang="en-US" sz="1200" b="0" i="1" kern="1200" dirty="0" err="1">
                          <a:solidFill>
                            <a:srgbClr val="000000"/>
                          </a:solidFill>
                          <a:latin typeface="NVIDIA-NALA"/>
                          <a:ea typeface="+mn-ea"/>
                          <a:cs typeface="+mn-cs"/>
                        </a:rPr>
                        <a:t>job_id</a:t>
                      </a:r>
                      <a:r>
                        <a:rPr lang="en-US" sz="1200" b="0" i="1" kern="1200" dirty="0">
                          <a:solidFill>
                            <a:srgbClr val="000000"/>
                          </a:solidFill>
                          <a:latin typeface="NVIDIA-NALA"/>
                          <a:ea typeface="+mn-ea"/>
                          <a:cs typeface="+mn-cs"/>
                        </a:rPr>
                        <a:t>&gt; </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latin typeface="NVIDIA-NALA"/>
                          <a:ea typeface="+mn-ea"/>
                          <a:cs typeface="+mn-cs"/>
                        </a:rPr>
                        <a:t>inspect the status of job &lt;</a:t>
                      </a:r>
                      <a:r>
                        <a:rPr lang="en-US" sz="1200" b="0" kern="1200" dirty="0" err="1">
                          <a:solidFill>
                            <a:srgbClr val="000000"/>
                          </a:solidFill>
                          <a:latin typeface="NVIDIA-NALA"/>
                          <a:ea typeface="+mn-ea"/>
                          <a:cs typeface="+mn-cs"/>
                        </a:rPr>
                        <a:t>job_id</a:t>
                      </a:r>
                      <a:r>
                        <a:rPr lang="en-US" sz="1200" b="0" kern="1200" dirty="0">
                          <a:solidFill>
                            <a:srgbClr val="000000"/>
                          </a:solidFill>
                          <a:latin typeface="NVIDIA-NALA"/>
                          <a:ea typeface="+mn-ea"/>
                          <a:cs typeface="+mn-cs"/>
                        </a:rPr>
                        <a:t>&gt;</a:t>
                      </a:r>
                    </a:p>
                  </a:txBody>
                  <a:tcPr/>
                </a:tc>
                <a:extLst>
                  <a:ext uri="{0D108BD9-81ED-4DB2-BD59-A6C34878D82A}">
                    <a16:rowId xmlns:a16="http://schemas.microsoft.com/office/drawing/2014/main" val="3003799548"/>
                  </a:ext>
                </a:extLst>
              </a:tr>
              <a:tr h="370840">
                <a:tc>
                  <a:txBody>
                    <a:bodyPr/>
                    <a:lstStyle/>
                    <a:p>
                      <a:r>
                        <a:rPr lang="en-US" sz="1200" b="0" i="1" kern="1200" dirty="0" err="1">
                          <a:solidFill>
                            <a:srgbClr val="000000"/>
                          </a:solidFill>
                          <a:latin typeface="NVIDIA-NALA"/>
                          <a:ea typeface="+mn-ea"/>
                          <a:cs typeface="+mn-cs"/>
                        </a:rPr>
                        <a:t>squeue</a:t>
                      </a:r>
                      <a:r>
                        <a:rPr lang="en-US" sz="1200" b="0" i="1" kern="1200" dirty="0">
                          <a:solidFill>
                            <a:srgbClr val="000000"/>
                          </a:solidFill>
                          <a:latin typeface="NVIDIA-NALA"/>
                          <a:ea typeface="+mn-ea"/>
                          <a:cs typeface="+mn-cs"/>
                        </a:rPr>
                        <a:t> –u &lt;</a:t>
                      </a:r>
                      <a:r>
                        <a:rPr lang="en-US" sz="1200" b="0" i="1" kern="1200" dirty="0" err="1">
                          <a:solidFill>
                            <a:srgbClr val="000000"/>
                          </a:solidFill>
                          <a:latin typeface="NVIDIA-NALA"/>
                          <a:ea typeface="+mn-ea"/>
                          <a:cs typeface="+mn-cs"/>
                        </a:rPr>
                        <a:t>user_id</a:t>
                      </a:r>
                      <a:r>
                        <a:rPr lang="en-US" sz="1200" b="0" i="1" kern="1200" dirty="0">
                          <a:solidFill>
                            <a:srgbClr val="000000"/>
                          </a:solidFill>
                          <a:latin typeface="NVIDIA-NALA"/>
                          <a:ea typeface="+mn-ea"/>
                          <a:cs typeface="+mn-cs"/>
                        </a:rPr>
                        <a:t>&gt;</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latin typeface="NVIDIA-NALA"/>
                          <a:ea typeface="+mn-ea"/>
                          <a:cs typeface="+mn-cs"/>
                        </a:rPr>
                        <a:t>inspect all jobs of user &lt;</a:t>
                      </a:r>
                      <a:r>
                        <a:rPr lang="en-US" sz="1200" b="0" kern="1200" dirty="0" err="1">
                          <a:solidFill>
                            <a:srgbClr val="000000"/>
                          </a:solidFill>
                          <a:latin typeface="NVIDIA-NALA"/>
                          <a:ea typeface="+mn-ea"/>
                          <a:cs typeface="+mn-cs"/>
                        </a:rPr>
                        <a:t>user_id</a:t>
                      </a:r>
                      <a:r>
                        <a:rPr lang="en-US" sz="1200" b="0" kern="1200" dirty="0">
                          <a:solidFill>
                            <a:srgbClr val="000000"/>
                          </a:solidFill>
                          <a:latin typeface="NVIDIA-NALA"/>
                          <a:ea typeface="+mn-ea"/>
                          <a:cs typeface="+mn-cs"/>
                        </a:rPr>
                        <a:t>&gt;</a:t>
                      </a:r>
                    </a:p>
                  </a:txBody>
                  <a:tcPr/>
                </a:tc>
                <a:extLst>
                  <a:ext uri="{0D108BD9-81ED-4DB2-BD59-A6C34878D82A}">
                    <a16:rowId xmlns:a16="http://schemas.microsoft.com/office/drawing/2014/main" val="2819449771"/>
                  </a:ext>
                </a:extLst>
              </a:tr>
              <a:tr h="370840">
                <a:tc>
                  <a:txBody>
                    <a:bodyPr/>
                    <a:lstStyle/>
                    <a:p>
                      <a:r>
                        <a:rPr lang="en-US" sz="1200" b="0" i="1" kern="1200" dirty="0" err="1">
                          <a:solidFill>
                            <a:srgbClr val="000000"/>
                          </a:solidFill>
                          <a:latin typeface="NVIDIA-NALA"/>
                          <a:ea typeface="+mn-ea"/>
                          <a:cs typeface="+mn-cs"/>
                        </a:rPr>
                        <a:t>scancel</a:t>
                      </a:r>
                      <a:r>
                        <a:rPr lang="en-US" sz="1200" b="0" i="1" kern="1200" dirty="0">
                          <a:solidFill>
                            <a:srgbClr val="000000"/>
                          </a:solidFill>
                          <a:latin typeface="NVIDIA-NALA"/>
                          <a:ea typeface="+mn-ea"/>
                          <a:cs typeface="+mn-cs"/>
                        </a:rPr>
                        <a:t> &lt;</a:t>
                      </a:r>
                      <a:r>
                        <a:rPr lang="en-US" sz="1200" b="0" i="1" kern="1200" dirty="0" err="1">
                          <a:solidFill>
                            <a:srgbClr val="000000"/>
                          </a:solidFill>
                          <a:latin typeface="NVIDIA-NALA"/>
                          <a:ea typeface="+mn-ea"/>
                          <a:cs typeface="+mn-cs"/>
                        </a:rPr>
                        <a:t>job_id</a:t>
                      </a:r>
                      <a:r>
                        <a:rPr lang="en-US" sz="1200" b="0" i="1" kern="1200" dirty="0">
                          <a:solidFill>
                            <a:srgbClr val="000000"/>
                          </a:solidFill>
                          <a:latin typeface="NVIDIA-NALA"/>
                          <a:ea typeface="+mn-ea"/>
                          <a:cs typeface="+mn-cs"/>
                        </a:rPr>
                        <a:t>&gt; </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latin typeface="NVIDIA-NALA"/>
                          <a:ea typeface="+mn-ea"/>
                          <a:cs typeface="+mn-cs"/>
                        </a:rPr>
                        <a:t>cancel job &lt;</a:t>
                      </a:r>
                      <a:r>
                        <a:rPr lang="en-US" sz="1200" b="0" kern="1200" dirty="0" err="1">
                          <a:solidFill>
                            <a:srgbClr val="000000"/>
                          </a:solidFill>
                          <a:latin typeface="NVIDIA-NALA"/>
                          <a:ea typeface="+mn-ea"/>
                          <a:cs typeface="+mn-cs"/>
                        </a:rPr>
                        <a:t>job_id</a:t>
                      </a:r>
                      <a:r>
                        <a:rPr lang="en-US" sz="1200" b="0" kern="1200" dirty="0">
                          <a:solidFill>
                            <a:srgbClr val="000000"/>
                          </a:solidFill>
                          <a:latin typeface="NVIDIA-NALA"/>
                          <a:ea typeface="+mn-ea"/>
                          <a:cs typeface="+mn-cs"/>
                        </a:rPr>
                        <a:t>&gt; before it runs</a:t>
                      </a:r>
                    </a:p>
                  </a:txBody>
                  <a:tcPr/>
                </a:tc>
                <a:extLst>
                  <a:ext uri="{0D108BD9-81ED-4DB2-BD59-A6C34878D82A}">
                    <a16:rowId xmlns:a16="http://schemas.microsoft.com/office/drawing/2014/main" val="1506431370"/>
                  </a:ext>
                </a:extLst>
              </a:tr>
              <a:tr h="370840">
                <a:tc>
                  <a:txBody>
                    <a:bodyPr/>
                    <a:lstStyle/>
                    <a:p>
                      <a:r>
                        <a:rPr lang="en-US" sz="1200" b="0" i="1" kern="1200" dirty="0" err="1">
                          <a:solidFill>
                            <a:srgbClr val="000000"/>
                          </a:solidFill>
                          <a:latin typeface="NVIDIA-NALA"/>
                          <a:ea typeface="+mn-ea"/>
                          <a:cs typeface="+mn-cs"/>
                        </a:rPr>
                        <a:t>scontrol</a:t>
                      </a:r>
                      <a:r>
                        <a:rPr lang="en-US" sz="1200" b="0" i="1" kern="1200" dirty="0">
                          <a:solidFill>
                            <a:srgbClr val="000000"/>
                          </a:solidFill>
                          <a:latin typeface="NVIDIA-NALA"/>
                          <a:ea typeface="+mn-ea"/>
                          <a:cs typeface="+mn-cs"/>
                        </a:rPr>
                        <a:t> show job &lt;</a:t>
                      </a:r>
                      <a:r>
                        <a:rPr lang="en-US" sz="1200" b="0" i="1" kern="1200" dirty="0" err="1">
                          <a:solidFill>
                            <a:srgbClr val="000000"/>
                          </a:solidFill>
                          <a:latin typeface="NVIDIA-NALA"/>
                          <a:ea typeface="+mn-ea"/>
                          <a:cs typeface="+mn-cs"/>
                        </a:rPr>
                        <a:t>job_id</a:t>
                      </a:r>
                      <a:r>
                        <a:rPr lang="en-US" sz="1200" b="0" i="1" kern="1200" dirty="0">
                          <a:solidFill>
                            <a:srgbClr val="000000"/>
                          </a:solidFill>
                          <a:latin typeface="NVIDIA-NALA"/>
                          <a:ea typeface="+mn-ea"/>
                          <a:cs typeface="+mn-cs"/>
                        </a:rPr>
                        <a:t>&gt; </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latin typeface="NVIDIA-NALA"/>
                          <a:ea typeface="+mn-ea"/>
                          <a:cs typeface="+mn-cs"/>
                        </a:rPr>
                        <a:t>show estimated job start</a:t>
                      </a:r>
                    </a:p>
                  </a:txBody>
                  <a:tcPr/>
                </a:tc>
                <a:extLst>
                  <a:ext uri="{0D108BD9-81ED-4DB2-BD59-A6C34878D82A}">
                    <a16:rowId xmlns:a16="http://schemas.microsoft.com/office/drawing/2014/main" val="2971469204"/>
                  </a:ext>
                </a:extLst>
              </a:tr>
            </a:tbl>
          </a:graphicData>
        </a:graphic>
      </p:graphicFrame>
    </p:spTree>
    <p:extLst>
      <p:ext uri="{BB962C8B-B14F-4D97-AF65-F5344CB8AC3E}">
        <p14:creationId xmlns:p14="http://schemas.microsoft.com/office/powerpoint/2010/main" val="333279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B9A8-A5F5-BE19-D85D-5994C3142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29434-1A5D-8FAC-1C60-6A8F53A113CD}"/>
              </a:ext>
            </a:extLst>
          </p:cNvPr>
          <p:cNvSpPr>
            <a:spLocks noGrp="1"/>
          </p:cNvSpPr>
          <p:nvPr>
            <p:ph type="title"/>
          </p:nvPr>
        </p:nvSpPr>
        <p:spPr>
          <a:xfrm>
            <a:off x="557214" y="130878"/>
            <a:ext cx="7556500" cy="322041"/>
          </a:xfrm>
        </p:spPr>
        <p:txBody>
          <a:bodyPr anchor="t">
            <a:normAutofit fontScale="90000"/>
          </a:bodyPr>
          <a:lstStyle/>
          <a:p>
            <a:r>
              <a:rPr lang="en-US" dirty="0"/>
              <a:t>Submit your jobs on </a:t>
            </a:r>
            <a:r>
              <a:rPr lang="en-US" dirty="0" err="1"/>
              <a:t>Snellius</a:t>
            </a:r>
            <a:r>
              <a:rPr lang="en-US" dirty="0"/>
              <a:t> – job arguments</a:t>
            </a:r>
          </a:p>
        </p:txBody>
      </p:sp>
      <p:sp>
        <p:nvSpPr>
          <p:cNvPr id="5" name="Slide Number Placeholder 4">
            <a:extLst>
              <a:ext uri="{FF2B5EF4-FFF2-40B4-BE49-F238E27FC236}">
                <a16:creationId xmlns:a16="http://schemas.microsoft.com/office/drawing/2014/main" id="{8A893972-F698-4169-A8C3-8479F5637189}"/>
              </a:ext>
            </a:extLst>
          </p:cNvPr>
          <p:cNvSpPr>
            <a:spLocks noGrp="1"/>
          </p:cNvSpPr>
          <p:nvPr>
            <p:ph type="sldNum" sz="quarter" idx="12"/>
          </p:nvPr>
        </p:nvSpPr>
        <p:spPr>
          <a:xfrm>
            <a:off x="2" y="4487601"/>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45A91AA2-8DBA-DDFF-F06B-E913ACC0605C}"/>
              </a:ext>
            </a:extLst>
          </p:cNvPr>
          <p:cNvPicPr>
            <a:picLocks noChangeAspect="1"/>
          </p:cNvPicPr>
          <p:nvPr/>
        </p:nvPicPr>
        <p:blipFill>
          <a:blip r:embed="rId2"/>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478604FC-D4A9-FED0-9EA2-6111873C5138}"/>
              </a:ext>
            </a:extLst>
          </p:cNvPr>
          <p:cNvSpPr txBox="1">
            <a:spLocks/>
          </p:cNvSpPr>
          <p:nvPr/>
        </p:nvSpPr>
        <p:spPr>
          <a:xfrm>
            <a:off x="340544" y="4772657"/>
            <a:ext cx="8462911" cy="406730"/>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lgn="l">
              <a:lnSpc>
                <a:spcPts val="1800"/>
              </a:lnSpc>
              <a:spcAft>
                <a:spcPts val="1800"/>
              </a:spcAft>
            </a:pPr>
            <a:r>
              <a:rPr lang="en-US" sz="1400" b="0" dirty="0">
                <a:solidFill>
                  <a:srgbClr val="000000"/>
                </a:solidFill>
                <a:latin typeface="NVIDIA-NALA"/>
                <a:hlinkClick r:id="rId3"/>
              </a:rPr>
              <a:t>Full list</a:t>
            </a:r>
            <a:endParaRPr lang="en-US" sz="1400" b="0" dirty="0">
              <a:solidFill>
                <a:srgbClr val="000000"/>
              </a:solidFill>
              <a:latin typeface="NVIDIA-NALA"/>
              <a:ea typeface="+mj-ea"/>
              <a:cs typeface="+mj-cs"/>
            </a:endParaRPr>
          </a:p>
        </p:txBody>
      </p:sp>
      <p:graphicFrame>
        <p:nvGraphicFramePr>
          <p:cNvPr id="4" name="Table 3">
            <a:extLst>
              <a:ext uri="{FF2B5EF4-FFF2-40B4-BE49-F238E27FC236}">
                <a16:creationId xmlns:a16="http://schemas.microsoft.com/office/drawing/2014/main" id="{B0036726-606D-EF16-BAE8-776ADC79D111}"/>
              </a:ext>
            </a:extLst>
          </p:cNvPr>
          <p:cNvGraphicFramePr>
            <a:graphicFrameLocks noGrp="1"/>
          </p:cNvGraphicFramePr>
          <p:nvPr>
            <p:extLst>
              <p:ext uri="{D42A27DB-BD31-4B8C-83A1-F6EECF244321}">
                <p14:modId xmlns:p14="http://schemas.microsoft.com/office/powerpoint/2010/main" val="3384354983"/>
              </p:ext>
            </p:extLst>
          </p:nvPr>
        </p:nvGraphicFramePr>
        <p:xfrm>
          <a:off x="0" y="534873"/>
          <a:ext cx="9144000" cy="4020820"/>
        </p:xfrm>
        <a:graphic>
          <a:graphicData uri="http://schemas.openxmlformats.org/drawingml/2006/table">
            <a:tbl>
              <a:tblPr firstRow="1" bandRow="1">
                <a:tableStyleId>{5C22544A-7EE6-4342-B048-85BDC9FD1C3A}</a:tableStyleId>
              </a:tblPr>
              <a:tblGrid>
                <a:gridCol w="3559126">
                  <a:extLst>
                    <a:ext uri="{9D8B030D-6E8A-4147-A177-3AD203B41FA5}">
                      <a16:colId xmlns:a16="http://schemas.microsoft.com/office/drawing/2014/main" val="609570551"/>
                    </a:ext>
                  </a:extLst>
                </a:gridCol>
                <a:gridCol w="5584874">
                  <a:extLst>
                    <a:ext uri="{9D8B030D-6E8A-4147-A177-3AD203B41FA5}">
                      <a16:colId xmlns:a16="http://schemas.microsoft.com/office/drawing/2014/main" val="3048335366"/>
                    </a:ext>
                  </a:extLst>
                </a:gridCol>
              </a:tblGrid>
              <a:tr h="370840">
                <a:tc>
                  <a:txBody>
                    <a:bodyPr/>
                    <a:lstStyle/>
                    <a:p>
                      <a:r>
                        <a:rPr lang="en-US" dirty="0"/>
                        <a:t>Job arguments</a:t>
                      </a:r>
                      <a:endParaRPr lang="en-NL" dirty="0"/>
                    </a:p>
                  </a:txBody>
                  <a:tcPr/>
                </a:tc>
                <a:tc>
                  <a:txBody>
                    <a:bodyPr/>
                    <a:lstStyle/>
                    <a:p>
                      <a:r>
                        <a:rPr lang="en-US" dirty="0"/>
                        <a:t>Explained</a:t>
                      </a:r>
                      <a:endParaRPr lang="en-NL" dirty="0"/>
                    </a:p>
                  </a:txBody>
                  <a:tcPr/>
                </a:tc>
                <a:extLst>
                  <a:ext uri="{0D108BD9-81ED-4DB2-BD59-A6C34878D82A}">
                    <a16:rowId xmlns:a16="http://schemas.microsoft.com/office/drawing/2014/main" val="3481771815"/>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--partition=gpu_mig</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LID4096" sz="1050" b="0" i="1" u="none" strike="noStrike" cap="none" normalizeH="0" baseline="0" dirty="0">
                          <a:ln>
                            <a:noFill/>
                          </a:ln>
                          <a:solidFill>
                            <a:srgbClr val="404040"/>
                          </a:solidFill>
                          <a:effectLst/>
                          <a:latin typeface="Arial Unicode MS"/>
                          <a:ea typeface="SFMono-Regular"/>
                        </a:rPr>
                        <a:t>The partition of </a:t>
                      </a:r>
                      <a:r>
                        <a:rPr kumimoji="0" lang="en-US" altLang="LID4096" sz="1050" b="0" i="1" u="none" strike="noStrike" cap="none" normalizeH="0" baseline="0" dirty="0" err="1">
                          <a:ln>
                            <a:noFill/>
                          </a:ln>
                          <a:solidFill>
                            <a:srgbClr val="404040"/>
                          </a:solidFill>
                          <a:effectLst/>
                          <a:latin typeface="Arial Unicode MS"/>
                          <a:ea typeface="SFMono-Regular"/>
                        </a:rPr>
                        <a:t>Snellius</a:t>
                      </a:r>
                      <a:r>
                        <a:rPr kumimoji="0" lang="en-US" altLang="LID4096" sz="1050" b="0" i="1" u="none" strike="noStrike" cap="none" normalizeH="0" baseline="0" dirty="0">
                          <a:ln>
                            <a:noFill/>
                          </a:ln>
                          <a:solidFill>
                            <a:srgbClr val="404040"/>
                          </a:solidFill>
                          <a:effectLst/>
                          <a:latin typeface="Arial Unicode MS"/>
                          <a:ea typeface="SFMono-Regular"/>
                        </a:rPr>
                        <a:t> on which you want to run your job</a:t>
                      </a:r>
                      <a:r>
                        <a:rPr kumimoji="0" lang="en-US" altLang="LID4096" sz="1050" b="0" i="0" u="none" strike="noStrike" cap="none" normalizeH="0" baseline="0" dirty="0">
                          <a:ln>
                            <a:noFill/>
                          </a:ln>
                          <a:solidFill>
                            <a:srgbClr val="404040"/>
                          </a:solidFill>
                          <a:effectLst/>
                          <a:latin typeface="Arial Unicode MS"/>
                          <a:ea typeface="SFMono-Regular"/>
                        </a:rPr>
                        <a:t>.</a:t>
                      </a:r>
                    </a:p>
                  </a:txBody>
                  <a:tcPr/>
                </a:tc>
                <a:extLst>
                  <a:ext uri="{0D108BD9-81ED-4DB2-BD59-A6C34878D82A}">
                    <a16:rowId xmlns:a16="http://schemas.microsoft.com/office/drawing/2014/main" val="2096903387"/>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--gpus=1</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LID4096" sz="1050" b="0" i="1" u="none" strike="noStrike" cap="none" normalizeH="0" baseline="0" dirty="0">
                          <a:ln>
                            <a:noFill/>
                          </a:ln>
                          <a:solidFill>
                            <a:srgbClr val="404040"/>
                          </a:solidFill>
                          <a:effectLst/>
                          <a:latin typeface="Arial Unicode MS"/>
                          <a:ea typeface="SFMono-Regular"/>
                        </a:rPr>
                        <a:t>Number of GPUs you request from the nodes. If you haven’t designed your code to explicitly run on multiple GPUs, please use only one GPU</a:t>
                      </a:r>
                      <a:endParaRPr kumimoji="0" lang="en-US" altLang="LID4096" sz="1050" b="0" i="0" u="none" strike="noStrike" cap="none" normalizeH="0" baseline="0" dirty="0">
                        <a:ln>
                          <a:noFill/>
                        </a:ln>
                        <a:solidFill>
                          <a:srgbClr val="404040"/>
                        </a:solidFill>
                        <a:effectLst/>
                        <a:latin typeface="Arial Unicode MS"/>
                        <a:ea typeface="SFMono-Regular"/>
                      </a:endParaRPr>
                    </a:p>
                  </a:txBody>
                  <a:tcPr/>
                </a:tc>
                <a:extLst>
                  <a:ext uri="{0D108BD9-81ED-4DB2-BD59-A6C34878D82A}">
                    <a16:rowId xmlns:a16="http://schemas.microsoft.com/office/drawing/2014/main" val="1433205635"/>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--job-name=CheckEnvironment</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LID4096" sz="1050" b="0" i="1" u="none" strike="noStrike" cap="none" normalizeH="0" baseline="0" dirty="0">
                          <a:ln>
                            <a:noFill/>
                          </a:ln>
                          <a:solidFill>
                            <a:srgbClr val="404040"/>
                          </a:solidFill>
                          <a:effectLst/>
                          <a:latin typeface="Arial Unicode MS"/>
                          <a:ea typeface="SFMono-Regular"/>
                        </a:rPr>
                        <a:t>Name of the job to pop up when you list your jobs with </a:t>
                      </a:r>
                      <a:r>
                        <a:rPr kumimoji="0" lang="en-US" altLang="LID4096" sz="1050" b="0" i="1" u="none" strike="noStrike" cap="none" normalizeH="0" baseline="0" dirty="0" err="1">
                          <a:ln>
                            <a:noFill/>
                          </a:ln>
                          <a:solidFill>
                            <a:srgbClr val="404040"/>
                          </a:solidFill>
                          <a:effectLst/>
                          <a:latin typeface="Arial Unicode MS"/>
                          <a:ea typeface="SFMono-Regular"/>
                        </a:rPr>
                        <a:t>squeue</a:t>
                      </a:r>
                      <a:endParaRPr kumimoji="0" lang="en-US" altLang="LID4096" sz="1050" b="0" i="1" u="none" strike="noStrike" cap="none" normalizeH="0" baseline="0" dirty="0">
                        <a:ln>
                          <a:noFill/>
                        </a:ln>
                        <a:solidFill>
                          <a:srgbClr val="404040"/>
                        </a:solidFill>
                        <a:effectLst/>
                        <a:latin typeface="Arial Unicode MS"/>
                        <a:ea typeface="SFMono-Regular"/>
                      </a:endParaRPr>
                    </a:p>
                  </a:txBody>
                  <a:tcPr/>
                </a:tc>
                <a:extLst>
                  <a:ext uri="{0D108BD9-81ED-4DB2-BD59-A6C34878D82A}">
                    <a16:rowId xmlns:a16="http://schemas.microsoft.com/office/drawing/2014/main" val="2218275324"/>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--ntasks=1</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LID4096" sz="1050" b="0" i="1" u="none" strike="noStrike" cap="none" normalizeH="0" baseline="0" dirty="0">
                          <a:ln>
                            <a:noFill/>
                          </a:ln>
                          <a:solidFill>
                            <a:srgbClr val="404040"/>
                          </a:solidFill>
                          <a:effectLst/>
                          <a:latin typeface="Arial Unicode MS"/>
                          <a:ea typeface="SFMono-Regular"/>
                        </a:rPr>
                        <a:t>Number of tasks to run with the job.</a:t>
                      </a:r>
                    </a:p>
                  </a:txBody>
                  <a:tcPr/>
                </a:tc>
                <a:extLst>
                  <a:ext uri="{0D108BD9-81ED-4DB2-BD59-A6C34878D82A}">
                    <a16:rowId xmlns:a16="http://schemas.microsoft.com/office/drawing/2014/main" val="560675380"/>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--cpus-per-task=9</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LID4096" sz="1050" b="0" i="1" u="none" strike="noStrike" cap="none" normalizeH="0" baseline="0" dirty="0">
                          <a:ln>
                            <a:noFill/>
                          </a:ln>
                          <a:solidFill>
                            <a:srgbClr val="404040"/>
                          </a:solidFill>
                          <a:effectLst/>
                          <a:latin typeface="Arial Unicode MS"/>
                          <a:ea typeface="SFMono-Regular"/>
                        </a:rPr>
                        <a:t>Number of CPUs you request from the nodes. The </a:t>
                      </a:r>
                      <a:r>
                        <a:rPr kumimoji="0" lang="en-US" altLang="LID4096" sz="1050" b="0" i="1" u="none" strike="noStrike" cap="none" normalizeH="0" baseline="0" dirty="0" err="1">
                          <a:ln>
                            <a:noFill/>
                          </a:ln>
                          <a:solidFill>
                            <a:srgbClr val="404040"/>
                          </a:solidFill>
                          <a:effectLst/>
                          <a:latin typeface="Arial Unicode MS"/>
                          <a:ea typeface="SFMono-Regular"/>
                        </a:rPr>
                        <a:t>gpu_mig</a:t>
                      </a:r>
                      <a:r>
                        <a:rPr kumimoji="0" lang="en-US" altLang="LID4096" sz="1050" b="0" i="1" u="none" strike="noStrike" cap="none" normalizeH="0" baseline="0" dirty="0">
                          <a:ln>
                            <a:noFill/>
                          </a:ln>
                          <a:solidFill>
                            <a:srgbClr val="404040"/>
                          </a:solidFill>
                          <a:effectLst/>
                          <a:latin typeface="Arial Unicode MS"/>
                          <a:ea typeface="SFMono-Regular"/>
                        </a:rPr>
                        <a:t> partition restricts you to max. 9 CPUs per job/GPU.</a:t>
                      </a:r>
                    </a:p>
                  </a:txBody>
                  <a:tcPr/>
                </a:tc>
                <a:extLst>
                  <a:ext uri="{0D108BD9-81ED-4DB2-BD59-A6C34878D82A}">
                    <a16:rowId xmlns:a16="http://schemas.microsoft.com/office/drawing/2014/main" val="2391904635"/>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--time=00:05:00</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LID4096" sz="1050" b="0" i="1" u="none" strike="noStrike" cap="none" normalizeH="0" baseline="0" dirty="0">
                          <a:ln>
                            <a:noFill/>
                          </a:ln>
                          <a:solidFill>
                            <a:srgbClr val="404040"/>
                          </a:solidFill>
                          <a:effectLst/>
                          <a:latin typeface="Arial Unicode MS"/>
                          <a:ea typeface="SFMono-Regular"/>
                        </a:rPr>
                        <a:t>Estimated time your job needs to finish. It is no problem if your job finishes earlier than the specified time. However, if your job takes longer, it will be instantaneously killed after the specified time. Still, don’t specify unnecessarily long times as this causes your job to be scheduled later (you need to wait longer in the queue if other people also want to use the cluster). A good rule of thumb is to specify ~20% more than what you would expect.</a:t>
                      </a:r>
                    </a:p>
                  </a:txBody>
                  <a:tcPr/>
                </a:tc>
                <a:extLst>
                  <a:ext uri="{0D108BD9-81ED-4DB2-BD59-A6C34878D82A}">
                    <a16:rowId xmlns:a16="http://schemas.microsoft.com/office/drawing/2014/main" val="1268130968"/>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--output=slurm_output_%A.</a:t>
                      </a:r>
                      <a:r>
                        <a:rPr kumimoji="0" lang="en-US" altLang="LID4096" sz="1050" b="0" i="1" u="none" strike="noStrike" cap="none" normalizeH="0" baseline="0" dirty="0">
                          <a:ln>
                            <a:noFill/>
                          </a:ln>
                          <a:solidFill>
                            <a:srgbClr val="3D7B7B"/>
                          </a:solidFill>
                          <a:effectLst/>
                          <a:latin typeface="Arial Unicode MS"/>
                          <a:ea typeface="SFMono-Regular"/>
                        </a:rPr>
                        <a:t>txt</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050" b="0" i="1" u="none" strike="noStrike" cap="none" normalizeH="0" baseline="0" dirty="0">
                          <a:ln>
                            <a:noFill/>
                          </a:ln>
                          <a:solidFill>
                            <a:srgbClr val="404040"/>
                          </a:solidFill>
                          <a:effectLst/>
                          <a:latin typeface="Arial Unicode MS"/>
                          <a:ea typeface="SFMono-Regular"/>
                        </a:rPr>
                        <a:t>Output file to which the </a:t>
                      </a:r>
                      <a:r>
                        <a:rPr kumimoji="0" lang="en-US" altLang="LID4096" sz="1050" b="0" i="1" u="none" strike="noStrike" cap="none" normalizeH="0" baseline="0" dirty="0" err="1">
                          <a:ln>
                            <a:noFill/>
                          </a:ln>
                          <a:solidFill>
                            <a:srgbClr val="404040"/>
                          </a:solidFill>
                          <a:effectLst/>
                          <a:latin typeface="Arial Unicode MS"/>
                          <a:ea typeface="SFMono-Regular"/>
                        </a:rPr>
                        <a:t>slurm</a:t>
                      </a:r>
                      <a:r>
                        <a:rPr kumimoji="0" lang="en-US" altLang="LID4096" sz="1050" b="0" i="1" u="none" strike="noStrike" cap="none" normalizeH="0" baseline="0" dirty="0">
                          <a:ln>
                            <a:noFill/>
                          </a:ln>
                          <a:solidFill>
                            <a:srgbClr val="404040"/>
                          </a:solidFill>
                          <a:effectLst/>
                          <a:latin typeface="Arial Unicode MS"/>
                          <a:ea typeface="SFMono-Regular"/>
                        </a:rPr>
                        <a:t> output should be written. The tag “%A” is automatically replaced by the job ID.</a:t>
                      </a:r>
                    </a:p>
                  </a:txBody>
                  <a:tcPr/>
                </a:tc>
                <a:extLst>
                  <a:ext uri="{0D108BD9-81ED-4DB2-BD59-A6C34878D82A}">
                    <a16:rowId xmlns:a16="http://schemas.microsoft.com/office/drawing/2014/main" val="744093210"/>
                  </a:ext>
                </a:extLst>
              </a:tr>
              <a:tr h="370840">
                <a:tc>
                  <a:txBody>
                    <a:bodyPr/>
                    <a:lstStyle/>
                    <a:p>
                      <a:r>
                        <a:rPr kumimoji="0" lang="LID4096" altLang="LID4096" sz="1050" b="0" i="1" u="none" strike="noStrike" cap="none" normalizeH="0" baseline="0" dirty="0">
                          <a:ln>
                            <a:noFill/>
                          </a:ln>
                          <a:solidFill>
                            <a:srgbClr val="3D7B7B"/>
                          </a:solidFill>
                          <a:effectLst/>
                          <a:latin typeface="Arial Unicode MS"/>
                          <a:ea typeface="SFMono-Regular"/>
                        </a:rPr>
                        <a:t>#SBATCH --</a:t>
                      </a:r>
                      <a:r>
                        <a:rPr kumimoji="0" lang="en-US" altLang="LID4096" sz="1050" b="0" i="1" u="none" strike="noStrike" cap="none" normalizeH="0" baseline="0" dirty="0">
                          <a:ln>
                            <a:noFill/>
                          </a:ln>
                          <a:solidFill>
                            <a:srgbClr val="3D7B7B"/>
                          </a:solidFill>
                          <a:effectLst/>
                          <a:latin typeface="Arial Unicode MS"/>
                          <a:ea typeface="SFMono-Regular"/>
                        </a:rPr>
                        <a:t>error</a:t>
                      </a:r>
                      <a:r>
                        <a:rPr kumimoji="0" lang="LID4096" altLang="LID4096" sz="1050" b="0" i="1" u="none" strike="noStrike" cap="none" normalizeH="0" baseline="0" dirty="0">
                          <a:ln>
                            <a:noFill/>
                          </a:ln>
                          <a:solidFill>
                            <a:srgbClr val="3D7B7B"/>
                          </a:solidFill>
                          <a:effectLst/>
                          <a:latin typeface="Arial Unicode MS"/>
                          <a:ea typeface="SFMono-Regular"/>
                        </a:rPr>
                        <a:t>=slurm_</a:t>
                      </a:r>
                      <a:r>
                        <a:rPr kumimoji="0" lang="en-US" altLang="LID4096" sz="1050" b="0" i="1" u="none" strike="noStrike" cap="none" normalizeH="0" baseline="0" dirty="0">
                          <a:ln>
                            <a:noFill/>
                          </a:ln>
                          <a:solidFill>
                            <a:srgbClr val="3D7B7B"/>
                          </a:solidFill>
                          <a:effectLst/>
                          <a:latin typeface="Arial Unicode MS"/>
                          <a:ea typeface="SFMono-Regular"/>
                        </a:rPr>
                        <a:t>error</a:t>
                      </a:r>
                      <a:r>
                        <a:rPr kumimoji="0" lang="LID4096" altLang="LID4096" sz="1050" b="0" i="1" u="none" strike="noStrike" cap="none" normalizeH="0" baseline="0" dirty="0">
                          <a:ln>
                            <a:noFill/>
                          </a:ln>
                          <a:solidFill>
                            <a:srgbClr val="3D7B7B"/>
                          </a:solidFill>
                          <a:effectLst/>
                          <a:latin typeface="Arial Unicode MS"/>
                          <a:ea typeface="SFMono-Regular"/>
                        </a:rPr>
                        <a:t>_%A.</a:t>
                      </a:r>
                      <a:r>
                        <a:rPr kumimoji="0" lang="en-US" altLang="LID4096" sz="1050" b="0" i="1" u="none" strike="noStrike" cap="none" normalizeH="0" baseline="0" dirty="0">
                          <a:ln>
                            <a:noFill/>
                          </a:ln>
                          <a:solidFill>
                            <a:srgbClr val="3D7B7B"/>
                          </a:solidFill>
                          <a:effectLst/>
                          <a:latin typeface="Arial Unicode MS"/>
                          <a:ea typeface="SFMono-Regular"/>
                        </a:rPr>
                        <a:t>txt</a:t>
                      </a:r>
                      <a:r>
                        <a:rPr kumimoji="0" lang="LID4096" altLang="LID4096" sz="1050" b="0" i="0" u="none" strike="noStrike" cap="none" normalizeH="0" baseline="0" dirty="0">
                          <a:ln>
                            <a:noFill/>
                          </a:ln>
                          <a:solidFill>
                            <a:srgbClr val="404040"/>
                          </a:solidFill>
                          <a:effectLst/>
                          <a:latin typeface="Arial Unicode MS"/>
                          <a:ea typeface="SFMono-Regular"/>
                        </a:rPr>
                        <a:t> </a:t>
                      </a:r>
                      <a:endParaRPr lang="en-NL" sz="1050" dirty="0"/>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LID4096" sz="1050" b="0" i="0" u="none" strike="noStrike" cap="none" normalizeH="0" baseline="0" dirty="0">
                          <a:ln>
                            <a:noFill/>
                          </a:ln>
                          <a:solidFill>
                            <a:srgbClr val="404040"/>
                          </a:solidFill>
                          <a:effectLst/>
                          <a:latin typeface="Arial Unicode MS"/>
                          <a:ea typeface="SFMono-Regular"/>
                        </a:rPr>
                        <a:t>Error file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LID4096" sz="1050" b="0" i="1" u="none" strike="noStrike" cap="none" normalizeH="0" baseline="0" dirty="0">
                        <a:ln>
                          <a:noFill/>
                        </a:ln>
                        <a:solidFill>
                          <a:srgbClr val="404040"/>
                        </a:solidFill>
                        <a:effectLst/>
                        <a:latin typeface="Arial Unicode MS"/>
                        <a:ea typeface="SFMono-Regular"/>
                      </a:endParaRPr>
                    </a:p>
                  </a:txBody>
                  <a:tcPr/>
                </a:tc>
                <a:extLst>
                  <a:ext uri="{0D108BD9-81ED-4DB2-BD59-A6C34878D82A}">
                    <a16:rowId xmlns:a16="http://schemas.microsoft.com/office/drawing/2014/main" val="1827974650"/>
                  </a:ext>
                </a:extLst>
              </a:tr>
            </a:tbl>
          </a:graphicData>
        </a:graphic>
      </p:graphicFrame>
    </p:spTree>
    <p:extLst>
      <p:ext uri="{BB962C8B-B14F-4D97-AF65-F5344CB8AC3E}">
        <p14:creationId xmlns:p14="http://schemas.microsoft.com/office/powerpoint/2010/main" val="236445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D257-1298-781F-82F2-9D0434DD7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CC620-5C84-D350-E7FF-43E49A48581A}"/>
              </a:ext>
            </a:extLst>
          </p:cNvPr>
          <p:cNvSpPr>
            <a:spLocks noGrp="1"/>
          </p:cNvSpPr>
          <p:nvPr>
            <p:ph type="title"/>
          </p:nvPr>
        </p:nvSpPr>
        <p:spPr>
          <a:xfrm>
            <a:off x="758825" y="518400"/>
            <a:ext cx="7556500" cy="322041"/>
          </a:xfrm>
        </p:spPr>
        <p:txBody>
          <a:bodyPr anchor="t">
            <a:normAutofit fontScale="90000"/>
          </a:bodyPr>
          <a:lstStyle/>
          <a:p>
            <a:r>
              <a:rPr lang="en-US" dirty="0"/>
              <a:t>Use </a:t>
            </a:r>
            <a:r>
              <a:rPr lang="en-US" dirty="0" err="1"/>
              <a:t>Jupyter</a:t>
            </a:r>
            <a:r>
              <a:rPr lang="en-US" dirty="0"/>
              <a:t> notebooks</a:t>
            </a:r>
          </a:p>
        </p:txBody>
      </p:sp>
      <p:sp>
        <p:nvSpPr>
          <p:cNvPr id="5" name="Slide Number Placeholder 4">
            <a:extLst>
              <a:ext uri="{FF2B5EF4-FFF2-40B4-BE49-F238E27FC236}">
                <a16:creationId xmlns:a16="http://schemas.microsoft.com/office/drawing/2014/main" id="{5C9EDD10-6E08-9C13-2B43-E302FEECB4B3}"/>
              </a:ext>
            </a:extLst>
          </p:cNvPr>
          <p:cNvSpPr>
            <a:spLocks noGrp="1"/>
          </p:cNvSpPr>
          <p:nvPr>
            <p:ph type="sldNum" sz="quarter" idx="12"/>
          </p:nvPr>
        </p:nvSpPr>
        <p:spPr>
          <a:xfrm>
            <a:off x="0" y="4485187"/>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4FC43EC0-2341-2E68-5D49-6E0D29124939}"/>
              </a:ext>
            </a:extLst>
          </p:cNvPr>
          <p:cNvPicPr>
            <a:picLocks noChangeAspect="1"/>
          </p:cNvPicPr>
          <p:nvPr/>
        </p:nvPicPr>
        <p:blipFill>
          <a:blip r:embed="rId2"/>
          <a:stretch>
            <a:fillRect/>
          </a:stretch>
        </p:blipFill>
        <p:spPr>
          <a:xfrm>
            <a:off x="813547" y="4468373"/>
            <a:ext cx="8330451" cy="200053"/>
          </a:xfrm>
          <a:prstGeom prst="rect">
            <a:avLst/>
          </a:prstGeom>
        </p:spPr>
      </p:pic>
      <p:sp>
        <p:nvSpPr>
          <p:cNvPr id="3" name="TextBox 2">
            <a:extLst>
              <a:ext uri="{FF2B5EF4-FFF2-40B4-BE49-F238E27FC236}">
                <a16:creationId xmlns:a16="http://schemas.microsoft.com/office/drawing/2014/main" id="{834B9C80-EE55-7D99-DC05-76A511A2FD25}"/>
              </a:ext>
            </a:extLst>
          </p:cNvPr>
          <p:cNvSpPr txBox="1"/>
          <p:nvPr/>
        </p:nvSpPr>
        <p:spPr>
          <a:xfrm>
            <a:off x="304800" y="1378857"/>
            <a:ext cx="6135975" cy="2377574"/>
          </a:xfrm>
          <a:prstGeom prst="rect">
            <a:avLst/>
          </a:prstGeom>
          <a:noFill/>
        </p:spPr>
        <p:txBody>
          <a:bodyPr wrap="none" rtlCol="0">
            <a:spAutoFit/>
          </a:bodyPr>
          <a:lstStyle/>
          <a:p>
            <a:pPr marL="285750" indent="-285750">
              <a:buFont typeface="Arial" panose="020B0604020202020204" pitchFamily="34" charset="0"/>
              <a:buChar char="•"/>
            </a:pPr>
            <a:r>
              <a:rPr lang="en-US" dirty="0"/>
              <a:t>Go to </a:t>
            </a:r>
            <a:r>
              <a:rPr lang="en-US" dirty="0" err="1">
                <a:hlinkClick r:id="rId3"/>
              </a:rPr>
              <a:t>Ondemand</a:t>
            </a:r>
            <a:r>
              <a:rPr lang="en-US" dirty="0">
                <a:hlinkClick r:id="rId3"/>
              </a:rPr>
              <a:t> </a:t>
            </a:r>
            <a:r>
              <a:rPr lang="en-US" dirty="0" err="1">
                <a:hlinkClick r:id="rId3"/>
              </a:rPr>
              <a:t>Snellius</a:t>
            </a:r>
            <a:r>
              <a:rPr lang="en-US" dirty="0">
                <a:hlinkClick r:id="rId3"/>
              </a:rPr>
              <a:t> </a:t>
            </a:r>
            <a:r>
              <a:rPr lang="en-US" dirty="0"/>
              <a:t> and login with your </a:t>
            </a:r>
            <a:r>
              <a:rPr lang="en-US" dirty="0" err="1"/>
              <a:t>Snellius</a:t>
            </a:r>
            <a:r>
              <a:rPr lang="en-US" dirty="0"/>
              <a:t> credentials</a:t>
            </a:r>
          </a:p>
          <a:p>
            <a:pPr marL="285750" indent="-285750">
              <a:buFont typeface="Arial" panose="020B0604020202020204" pitchFamily="34" charset="0"/>
              <a:buChar char="•"/>
            </a:pPr>
            <a:r>
              <a:rPr lang="en-US" dirty="0"/>
              <a:t>Go to </a:t>
            </a:r>
            <a:r>
              <a:rPr lang="en-US" b="1" dirty="0" err="1"/>
              <a:t>Jupyter</a:t>
            </a:r>
            <a:r>
              <a:rPr lang="en-US" dirty="0"/>
              <a:t> tile</a:t>
            </a:r>
          </a:p>
          <a:p>
            <a:pPr marL="285750" indent="-285750">
              <a:buFont typeface="Arial" panose="020B0604020202020204" pitchFamily="34" charset="0"/>
              <a:buChar char="•"/>
            </a:pPr>
            <a:r>
              <a:rPr lang="en-US" dirty="0"/>
              <a:t>Launch from GPU partition </a:t>
            </a:r>
          </a:p>
          <a:p>
            <a:pPr marL="628650" lvl="1" indent="-285750">
              <a:buFont typeface="Arial" panose="020B0604020202020204" pitchFamily="34" charset="0"/>
              <a:buChar char="•"/>
            </a:pPr>
            <a:r>
              <a:rPr lang="en-US" dirty="0"/>
              <a:t>CPU number and memory do not matter</a:t>
            </a:r>
          </a:p>
          <a:p>
            <a:pPr marL="628650" lvl="1" indent="-285750">
              <a:buFont typeface="Arial" panose="020B0604020202020204" pitchFamily="34" charset="0"/>
              <a:buChar char="•"/>
            </a:pPr>
            <a:r>
              <a:rPr lang="en-US" dirty="0"/>
              <a:t>GPU number does matter</a:t>
            </a:r>
          </a:p>
          <a:p>
            <a:pPr marL="628650" lvl="1" indent="-285750">
              <a:buFont typeface="Arial" panose="020B0604020202020204" pitchFamily="34" charset="0"/>
              <a:buChar char="•"/>
            </a:pPr>
            <a:r>
              <a:rPr lang="en-US" dirty="0"/>
              <a:t>You can use the </a:t>
            </a:r>
            <a:r>
              <a:rPr lang="en-US" b="1" dirty="0"/>
              <a:t>reserved nodes</a:t>
            </a:r>
            <a:r>
              <a:rPr lang="en-US" dirty="0"/>
              <a:t> for free (only </a:t>
            </a:r>
            <a:r>
              <a:rPr lang="en-US" dirty="0" err="1"/>
              <a:t>gpu_mig</a:t>
            </a:r>
            <a:r>
              <a:rPr lang="en-US" dirty="0"/>
              <a:t>) from reservation</a:t>
            </a:r>
          </a:p>
          <a:p>
            <a:pPr marL="285750" indent="-285750">
              <a:buFont typeface="Arial" panose="020B0604020202020204" pitchFamily="34" charset="0"/>
              <a:buChar char="•"/>
            </a:pPr>
            <a:r>
              <a:rPr lang="en-US" dirty="0"/>
              <a:t>Start or create </a:t>
            </a:r>
            <a:r>
              <a:rPr lang="en-US" b="1" dirty="0"/>
              <a:t>notebook</a:t>
            </a:r>
          </a:p>
          <a:p>
            <a:pPr marL="285750" indent="-285750">
              <a:buFont typeface="Arial" panose="020B0604020202020204" pitchFamily="34" charset="0"/>
              <a:buChar char="•"/>
            </a:pPr>
            <a:endParaRPr lang="en-US" dirty="0"/>
          </a:p>
          <a:p>
            <a:r>
              <a:rPr lang="en-US" dirty="0"/>
              <a:t>TIPS:</a:t>
            </a:r>
          </a:p>
          <a:p>
            <a:pPr marL="285750" indent="-285750">
              <a:buFont typeface="Arial" panose="020B0604020202020204" pitchFamily="34" charset="0"/>
              <a:buChar char="•"/>
            </a:pPr>
            <a:r>
              <a:rPr lang="en-US" dirty="0"/>
              <a:t>You can (un)load </a:t>
            </a:r>
            <a:r>
              <a:rPr lang="en-US" b="1" dirty="0"/>
              <a:t>modules</a:t>
            </a:r>
            <a:r>
              <a:rPr lang="en-US" dirty="0"/>
              <a:t> by going to </a:t>
            </a:r>
            <a:r>
              <a:rPr lang="en-US" dirty="0" err="1"/>
              <a:t>Jupyterlab</a:t>
            </a:r>
            <a:r>
              <a:rPr lang="en-US" dirty="0"/>
              <a:t> -&gt; </a:t>
            </a:r>
            <a:r>
              <a:rPr lang="en-US" dirty="0" err="1"/>
              <a:t>Softwares</a:t>
            </a:r>
            <a:r>
              <a:rPr lang="en-US" dirty="0"/>
              <a:t> (left menu bar)</a:t>
            </a:r>
          </a:p>
          <a:p>
            <a:pPr marL="285750" indent="-285750">
              <a:buFont typeface="Arial" panose="020B0604020202020204" pitchFamily="34" charset="0"/>
              <a:buChar char="•"/>
            </a:pPr>
            <a:endParaRPr lang="en-NL" dirty="0"/>
          </a:p>
        </p:txBody>
      </p:sp>
      <p:pic>
        <p:nvPicPr>
          <p:cNvPr id="6" name="Picture 5">
            <a:extLst>
              <a:ext uri="{FF2B5EF4-FFF2-40B4-BE49-F238E27FC236}">
                <a16:creationId xmlns:a16="http://schemas.microsoft.com/office/drawing/2014/main" id="{A4B1C2E3-ADA9-5568-B1C0-4D9E15E498FE}"/>
              </a:ext>
            </a:extLst>
          </p:cNvPr>
          <p:cNvPicPr>
            <a:picLocks noChangeAspect="1"/>
          </p:cNvPicPr>
          <p:nvPr/>
        </p:nvPicPr>
        <p:blipFill>
          <a:blip r:embed="rId4"/>
          <a:stretch>
            <a:fillRect/>
          </a:stretch>
        </p:blipFill>
        <p:spPr>
          <a:xfrm>
            <a:off x="5689601" y="0"/>
            <a:ext cx="3380691" cy="1622874"/>
          </a:xfrm>
          <a:prstGeom prst="rect">
            <a:avLst/>
          </a:prstGeom>
        </p:spPr>
      </p:pic>
      <p:sp>
        <p:nvSpPr>
          <p:cNvPr id="7" name="Rectangle 6">
            <a:extLst>
              <a:ext uri="{FF2B5EF4-FFF2-40B4-BE49-F238E27FC236}">
                <a16:creationId xmlns:a16="http://schemas.microsoft.com/office/drawing/2014/main" id="{5B9AA54C-01DC-662F-102B-F45833AC2ADE}"/>
              </a:ext>
            </a:extLst>
          </p:cNvPr>
          <p:cNvSpPr/>
          <p:nvPr/>
        </p:nvSpPr>
        <p:spPr>
          <a:xfrm>
            <a:off x="6720114" y="934115"/>
            <a:ext cx="537028" cy="5950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0" name="Picture 9">
            <a:extLst>
              <a:ext uri="{FF2B5EF4-FFF2-40B4-BE49-F238E27FC236}">
                <a16:creationId xmlns:a16="http://schemas.microsoft.com/office/drawing/2014/main" id="{01B12F25-EBAF-AAE8-E543-2422524C0BEA}"/>
              </a:ext>
            </a:extLst>
          </p:cNvPr>
          <p:cNvPicPr>
            <a:picLocks noChangeAspect="1"/>
          </p:cNvPicPr>
          <p:nvPr/>
        </p:nvPicPr>
        <p:blipFill>
          <a:blip r:embed="rId5"/>
          <a:stretch>
            <a:fillRect/>
          </a:stretch>
        </p:blipFill>
        <p:spPr>
          <a:xfrm>
            <a:off x="6345403" y="1716548"/>
            <a:ext cx="2724889" cy="3409043"/>
          </a:xfrm>
          <a:prstGeom prst="rect">
            <a:avLst/>
          </a:prstGeom>
        </p:spPr>
      </p:pic>
      <p:pic>
        <p:nvPicPr>
          <p:cNvPr id="13" name="Picture 12">
            <a:extLst>
              <a:ext uri="{FF2B5EF4-FFF2-40B4-BE49-F238E27FC236}">
                <a16:creationId xmlns:a16="http://schemas.microsoft.com/office/drawing/2014/main" id="{2389E0DD-FED2-A539-DB76-9B1BBE1277BA}"/>
              </a:ext>
            </a:extLst>
          </p:cNvPr>
          <p:cNvPicPr>
            <a:picLocks noChangeAspect="1"/>
          </p:cNvPicPr>
          <p:nvPr/>
        </p:nvPicPr>
        <p:blipFill>
          <a:blip r:embed="rId6"/>
          <a:stretch>
            <a:fillRect/>
          </a:stretch>
        </p:blipFill>
        <p:spPr>
          <a:xfrm>
            <a:off x="2600540" y="3548314"/>
            <a:ext cx="815073" cy="1577277"/>
          </a:xfrm>
          <a:prstGeom prst="rect">
            <a:avLst/>
          </a:prstGeom>
        </p:spPr>
      </p:pic>
      <p:pic>
        <p:nvPicPr>
          <p:cNvPr id="15" name="Picture 14">
            <a:extLst>
              <a:ext uri="{FF2B5EF4-FFF2-40B4-BE49-F238E27FC236}">
                <a16:creationId xmlns:a16="http://schemas.microsoft.com/office/drawing/2014/main" id="{7BA2998B-2638-2C62-9177-FFA92014BAC6}"/>
              </a:ext>
            </a:extLst>
          </p:cNvPr>
          <p:cNvPicPr>
            <a:picLocks noChangeAspect="1"/>
          </p:cNvPicPr>
          <p:nvPr/>
        </p:nvPicPr>
        <p:blipFill>
          <a:blip r:embed="rId7"/>
          <a:stretch>
            <a:fillRect/>
          </a:stretch>
        </p:blipFill>
        <p:spPr>
          <a:xfrm>
            <a:off x="340575" y="4035279"/>
            <a:ext cx="2184632" cy="533120"/>
          </a:xfrm>
          <a:prstGeom prst="rect">
            <a:avLst/>
          </a:prstGeom>
        </p:spPr>
      </p:pic>
      <p:sp>
        <p:nvSpPr>
          <p:cNvPr id="16" name="Rectangle 15">
            <a:extLst>
              <a:ext uri="{FF2B5EF4-FFF2-40B4-BE49-F238E27FC236}">
                <a16:creationId xmlns:a16="http://schemas.microsoft.com/office/drawing/2014/main" id="{84ED0E38-7673-6D61-B244-18CCC0BB5EF2}"/>
              </a:ext>
            </a:extLst>
          </p:cNvPr>
          <p:cNvSpPr/>
          <p:nvPr/>
        </p:nvSpPr>
        <p:spPr>
          <a:xfrm>
            <a:off x="490311" y="4320870"/>
            <a:ext cx="699446" cy="2475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95F5EBC7-B2F5-267C-FB5E-FC86569BC1D2}"/>
              </a:ext>
            </a:extLst>
          </p:cNvPr>
          <p:cNvSpPr/>
          <p:nvPr/>
        </p:nvSpPr>
        <p:spPr>
          <a:xfrm>
            <a:off x="2595278" y="4925538"/>
            <a:ext cx="176951" cy="20005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2723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03E0-974F-8B99-6079-DF80A376B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8041A-358A-FDAA-FED1-66A1E6566C61}"/>
              </a:ext>
            </a:extLst>
          </p:cNvPr>
          <p:cNvSpPr>
            <a:spLocks noGrp="1"/>
          </p:cNvSpPr>
          <p:nvPr>
            <p:ph type="title"/>
          </p:nvPr>
        </p:nvSpPr>
        <p:spPr>
          <a:xfrm>
            <a:off x="793749" y="651189"/>
            <a:ext cx="7556500" cy="322041"/>
          </a:xfrm>
        </p:spPr>
        <p:txBody>
          <a:bodyPr anchor="t">
            <a:normAutofit fontScale="90000"/>
          </a:bodyPr>
          <a:lstStyle/>
          <a:p>
            <a:r>
              <a:rPr lang="en-US" dirty="0"/>
              <a:t>Final exercise</a:t>
            </a:r>
          </a:p>
        </p:txBody>
      </p:sp>
      <p:sp>
        <p:nvSpPr>
          <p:cNvPr id="5" name="Slide Number Placeholder 4">
            <a:extLst>
              <a:ext uri="{FF2B5EF4-FFF2-40B4-BE49-F238E27FC236}">
                <a16:creationId xmlns:a16="http://schemas.microsoft.com/office/drawing/2014/main" id="{A427EC7D-C0B4-EA39-9C6D-6B47E4A28E60}"/>
              </a:ext>
            </a:extLst>
          </p:cNvPr>
          <p:cNvSpPr>
            <a:spLocks noGrp="1"/>
          </p:cNvSpPr>
          <p:nvPr>
            <p:ph type="sldNum" sz="quarter" idx="12"/>
          </p:nvPr>
        </p:nvSpPr>
        <p:spPr>
          <a:xfrm>
            <a:off x="0" y="4468373"/>
            <a:ext cx="1114424" cy="572286"/>
          </a:xfrm>
        </p:spPr>
        <p:txBody>
          <a:bodyPr anchor="ctr">
            <a:normAutofit/>
          </a:bodyPr>
          <a:lstStyle/>
          <a:p>
            <a:pPr>
              <a:spcAft>
                <a:spcPts val="600"/>
              </a:spcAft>
            </a:pPr>
            <a:r>
              <a:rPr lang="en-GB" dirty="0"/>
              <a:t> </a:t>
            </a:r>
          </a:p>
        </p:txBody>
      </p:sp>
      <p:pic>
        <p:nvPicPr>
          <p:cNvPr id="12" name="Picture 11">
            <a:extLst>
              <a:ext uri="{FF2B5EF4-FFF2-40B4-BE49-F238E27FC236}">
                <a16:creationId xmlns:a16="http://schemas.microsoft.com/office/drawing/2014/main" id="{2E5EFC1F-5C9E-7B65-9A71-D63DE8039E08}"/>
              </a:ext>
            </a:extLst>
          </p:cNvPr>
          <p:cNvPicPr>
            <a:picLocks noChangeAspect="1"/>
          </p:cNvPicPr>
          <p:nvPr/>
        </p:nvPicPr>
        <p:blipFill>
          <a:blip r:embed="rId2"/>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2AF03440-41BB-3718-658E-DDDA4D1F83C6}"/>
              </a:ext>
            </a:extLst>
          </p:cNvPr>
          <p:cNvSpPr txBox="1">
            <a:spLocks/>
          </p:cNvSpPr>
          <p:nvPr/>
        </p:nvSpPr>
        <p:spPr>
          <a:xfrm>
            <a:off x="340544" y="1345463"/>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900"/>
              </a:spcAft>
              <a:buFont typeface="Arial" panose="020B0604020202020204" pitchFamily="34" charset="0"/>
              <a:buChar char="•"/>
            </a:pPr>
            <a:r>
              <a:rPr lang="en-US" sz="1600" b="0" dirty="0">
                <a:solidFill>
                  <a:srgbClr val="000000"/>
                </a:solidFill>
                <a:latin typeface="NVIDIA-NALA"/>
                <a:ea typeface="+mj-ea"/>
                <a:cs typeface="+mj-cs"/>
              </a:rPr>
              <a:t>Git clone </a:t>
            </a:r>
            <a:r>
              <a:rPr lang="en-US" sz="1600" b="0" dirty="0">
                <a:solidFill>
                  <a:srgbClr val="000000"/>
                </a:solidFill>
                <a:latin typeface="NVIDIA-NALA"/>
                <a:ea typeface="+mj-ea"/>
                <a:cs typeface="+mj-cs"/>
                <a:hlinkClick r:id="rId3"/>
              </a:rPr>
              <a:t>https://gitlab.tue.nl/hpclab/courses/snellius-introduction.git</a:t>
            </a:r>
            <a:r>
              <a:rPr lang="en-US" sz="1600" b="0" dirty="0">
                <a:solidFill>
                  <a:srgbClr val="000000"/>
                </a:solidFill>
                <a:latin typeface="NVIDIA-NALA"/>
                <a:ea typeface="+mj-ea"/>
                <a:cs typeface="+mj-cs"/>
              </a:rPr>
              <a:t> </a:t>
            </a:r>
          </a:p>
          <a:p>
            <a:pPr marL="171450" indent="-171450" algn="l">
              <a:lnSpc>
                <a:spcPts val="1800"/>
              </a:lnSpc>
              <a:spcAft>
                <a:spcPts val="900"/>
              </a:spcAft>
              <a:buFont typeface="Arial" panose="020B0604020202020204" pitchFamily="34" charset="0"/>
              <a:buChar char="•"/>
            </a:pPr>
            <a:r>
              <a:rPr lang="en-US" sz="1600" b="0" dirty="0">
                <a:solidFill>
                  <a:srgbClr val="000000"/>
                </a:solidFill>
                <a:latin typeface="NVIDIA-NALA"/>
              </a:rPr>
              <a:t>Have a look at the python script and the </a:t>
            </a:r>
            <a:r>
              <a:rPr lang="en-US" sz="1600" b="0" dirty="0" err="1">
                <a:solidFill>
                  <a:srgbClr val="000000"/>
                </a:solidFill>
                <a:latin typeface="NVIDIA-NALA"/>
              </a:rPr>
              <a:t>slurm</a:t>
            </a:r>
            <a:r>
              <a:rPr lang="en-US" sz="1600" b="0" dirty="0">
                <a:solidFill>
                  <a:srgbClr val="000000"/>
                </a:solidFill>
                <a:latin typeface="NVIDIA-NALA"/>
              </a:rPr>
              <a:t> job</a:t>
            </a:r>
          </a:p>
          <a:p>
            <a:pPr marL="514350" lvl="1" indent="-171450">
              <a:lnSpc>
                <a:spcPts val="1800"/>
              </a:lnSpc>
              <a:spcAft>
                <a:spcPts val="900"/>
              </a:spcAft>
              <a:buFont typeface="Arial" panose="020B0604020202020204" pitchFamily="34" charset="0"/>
              <a:buChar char="•"/>
            </a:pPr>
            <a:r>
              <a:rPr lang="en-US" sz="1600" b="1" dirty="0">
                <a:solidFill>
                  <a:srgbClr val="000000"/>
                </a:solidFill>
                <a:latin typeface="NVIDIA-NALA"/>
              </a:rPr>
              <a:t> cat gpu_pytorch_mnist.py    </a:t>
            </a:r>
          </a:p>
          <a:p>
            <a:pPr marL="514350" lvl="1" indent="-171450">
              <a:lnSpc>
                <a:spcPts val="1800"/>
              </a:lnSpc>
              <a:spcAft>
                <a:spcPts val="900"/>
              </a:spcAft>
              <a:buFont typeface="Arial" panose="020B0604020202020204" pitchFamily="34" charset="0"/>
              <a:buChar char="•"/>
            </a:pPr>
            <a:r>
              <a:rPr lang="en-US" sz="1600" b="1" dirty="0">
                <a:solidFill>
                  <a:srgbClr val="000000"/>
                </a:solidFill>
                <a:latin typeface="NVIDIA-NALA"/>
              </a:rPr>
              <a:t>cat exercise.sh</a:t>
            </a:r>
          </a:p>
          <a:p>
            <a:pPr marL="171450" indent="-171450">
              <a:lnSpc>
                <a:spcPts val="1800"/>
              </a:lnSpc>
              <a:spcAft>
                <a:spcPts val="900"/>
              </a:spcAft>
              <a:buFont typeface="Arial" panose="020B0604020202020204" pitchFamily="34" charset="0"/>
              <a:buChar char="•"/>
            </a:pPr>
            <a:r>
              <a:rPr lang="en-US" sz="1600" b="0" dirty="0">
                <a:solidFill>
                  <a:srgbClr val="000000"/>
                </a:solidFill>
                <a:latin typeface="NVIDIA-NALA"/>
              </a:rPr>
              <a:t>Schedule job on reserved node</a:t>
            </a:r>
          </a:p>
          <a:p>
            <a:pPr marL="514350" lvl="1" indent="-171450">
              <a:lnSpc>
                <a:spcPts val="1800"/>
              </a:lnSpc>
              <a:spcAft>
                <a:spcPts val="900"/>
              </a:spcAft>
              <a:buFont typeface="Arial" panose="020B0604020202020204" pitchFamily="34" charset="0"/>
              <a:buChar char="•"/>
            </a:pPr>
            <a:r>
              <a:rPr lang="en-US" sz="1600" b="1" dirty="0" err="1">
                <a:solidFill>
                  <a:srgbClr val="000000"/>
                </a:solidFill>
                <a:latin typeface="NVIDIA-NALA"/>
              </a:rPr>
              <a:t>sbatch</a:t>
            </a:r>
            <a:r>
              <a:rPr lang="en-US" sz="1600" b="1" dirty="0">
                <a:solidFill>
                  <a:srgbClr val="000000"/>
                </a:solidFill>
                <a:latin typeface="NVIDIA-NALA"/>
              </a:rPr>
              <a:t> exercise.sh</a:t>
            </a:r>
          </a:p>
          <a:p>
            <a:pPr marL="171450" indent="-171450">
              <a:lnSpc>
                <a:spcPts val="1800"/>
              </a:lnSpc>
              <a:spcAft>
                <a:spcPts val="900"/>
              </a:spcAft>
              <a:buFont typeface="Arial" panose="020B0604020202020204" pitchFamily="34" charset="0"/>
              <a:buChar char="•"/>
            </a:pPr>
            <a:r>
              <a:rPr lang="en-US" sz="1600" b="0" dirty="0">
                <a:solidFill>
                  <a:srgbClr val="000000"/>
                </a:solidFill>
                <a:latin typeface="NVIDIA-NALA"/>
              </a:rPr>
              <a:t>Follow the status of the job</a:t>
            </a:r>
          </a:p>
          <a:p>
            <a:pPr marL="514350" lvl="1" indent="-171450">
              <a:lnSpc>
                <a:spcPts val="1800"/>
              </a:lnSpc>
              <a:spcAft>
                <a:spcPts val="900"/>
              </a:spcAft>
              <a:buFont typeface="Arial" panose="020B0604020202020204" pitchFamily="34" charset="0"/>
              <a:buChar char="•"/>
            </a:pPr>
            <a:r>
              <a:rPr lang="en-US" sz="1600" b="1" dirty="0">
                <a:solidFill>
                  <a:srgbClr val="000000"/>
                </a:solidFill>
                <a:latin typeface="NVIDIA-NALA"/>
              </a:rPr>
              <a:t> </a:t>
            </a:r>
            <a:r>
              <a:rPr lang="en-US" sz="1600" b="1" dirty="0" err="1">
                <a:solidFill>
                  <a:srgbClr val="000000"/>
                </a:solidFill>
                <a:latin typeface="NVIDIA-NALA"/>
              </a:rPr>
              <a:t>squeue</a:t>
            </a:r>
            <a:endParaRPr lang="en-US" sz="1600" b="1" dirty="0">
              <a:solidFill>
                <a:srgbClr val="000000"/>
              </a:solidFill>
              <a:latin typeface="NVIDIA-NALA"/>
            </a:endParaRPr>
          </a:p>
          <a:p>
            <a:pPr marL="171450" indent="-171450">
              <a:lnSpc>
                <a:spcPts val="1800"/>
              </a:lnSpc>
              <a:spcAft>
                <a:spcPts val="900"/>
              </a:spcAft>
              <a:buFont typeface="Arial" panose="020B0604020202020204" pitchFamily="34" charset="0"/>
              <a:buChar char="•"/>
            </a:pPr>
            <a:r>
              <a:rPr lang="en-US" sz="1600" b="0" dirty="0">
                <a:solidFill>
                  <a:srgbClr val="000000"/>
                </a:solidFill>
                <a:latin typeface="NVIDIA-NALA"/>
              </a:rPr>
              <a:t>When the job is finished, check out the output file</a:t>
            </a:r>
          </a:p>
          <a:p>
            <a:pPr marL="514350" lvl="1" indent="-171450">
              <a:lnSpc>
                <a:spcPts val="1800"/>
              </a:lnSpc>
              <a:spcAft>
                <a:spcPts val="900"/>
              </a:spcAft>
              <a:buFont typeface="Arial" panose="020B0604020202020204" pitchFamily="34" charset="0"/>
              <a:buChar char="•"/>
            </a:pPr>
            <a:r>
              <a:rPr lang="en-US" sz="1600" b="1" dirty="0">
                <a:solidFill>
                  <a:srgbClr val="000000"/>
                </a:solidFill>
                <a:latin typeface="NVIDIA-NALA"/>
              </a:rPr>
              <a:t> cat %x_%</a:t>
            </a:r>
            <a:r>
              <a:rPr lang="en-US" sz="1600" b="1" dirty="0" err="1">
                <a:solidFill>
                  <a:srgbClr val="000000"/>
                </a:solidFill>
                <a:latin typeface="NVIDIA-NALA"/>
              </a:rPr>
              <a:t>j.out</a:t>
            </a:r>
            <a:endParaRPr lang="en-US" sz="1600" b="1" dirty="0">
              <a:solidFill>
                <a:srgbClr val="000000"/>
              </a:solidFill>
              <a:latin typeface="NVIDIA-NALA"/>
            </a:endParaRPr>
          </a:p>
          <a:p>
            <a:pPr marL="171450" indent="-171450">
              <a:lnSpc>
                <a:spcPts val="1800"/>
              </a:lnSpc>
              <a:spcAft>
                <a:spcPts val="1800"/>
              </a:spcAft>
              <a:buFont typeface="Arial" panose="020B0604020202020204" pitchFamily="34" charset="0"/>
              <a:buChar char="•"/>
            </a:pPr>
            <a:endParaRPr lang="en-US" sz="1600" b="0" dirty="0">
              <a:solidFill>
                <a:srgbClr val="000000"/>
              </a:solidFill>
              <a:latin typeface="NVIDIA-NALA"/>
            </a:endParaRPr>
          </a:p>
        </p:txBody>
      </p:sp>
    </p:spTree>
    <p:extLst>
      <p:ext uri="{BB962C8B-B14F-4D97-AF65-F5344CB8AC3E}">
        <p14:creationId xmlns:p14="http://schemas.microsoft.com/office/powerpoint/2010/main" val="3504459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E1E1-1DD2-4699-410B-96272C9D8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B954B-70D2-7AC9-0BBC-B2FD69E581BA}"/>
              </a:ext>
            </a:extLst>
          </p:cNvPr>
          <p:cNvSpPr>
            <a:spLocks noGrp="1"/>
          </p:cNvSpPr>
          <p:nvPr>
            <p:ph type="title"/>
          </p:nvPr>
        </p:nvSpPr>
        <p:spPr>
          <a:xfrm>
            <a:off x="758825" y="518400"/>
            <a:ext cx="7556500" cy="322041"/>
          </a:xfrm>
        </p:spPr>
        <p:txBody>
          <a:bodyPr anchor="t">
            <a:normAutofit fontScale="90000"/>
          </a:bodyPr>
          <a:lstStyle/>
          <a:p>
            <a:r>
              <a:rPr lang="en-US" dirty="0"/>
              <a:t>Further learning: speed up your training with scratch node</a:t>
            </a:r>
          </a:p>
        </p:txBody>
      </p:sp>
      <p:sp>
        <p:nvSpPr>
          <p:cNvPr id="5" name="Slide Number Placeholder 4">
            <a:extLst>
              <a:ext uri="{FF2B5EF4-FFF2-40B4-BE49-F238E27FC236}">
                <a16:creationId xmlns:a16="http://schemas.microsoft.com/office/drawing/2014/main" id="{B946E936-4388-257C-3022-6D18A17063A9}"/>
              </a:ext>
            </a:extLst>
          </p:cNvPr>
          <p:cNvSpPr>
            <a:spLocks noGrp="1"/>
          </p:cNvSpPr>
          <p:nvPr>
            <p:ph type="sldNum" sz="quarter" idx="12"/>
          </p:nvPr>
        </p:nvSpPr>
        <p:spPr>
          <a:xfrm>
            <a:off x="2" y="4516149"/>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7DC39183-1C8B-D92B-827F-3768742CBAC4}"/>
              </a:ext>
            </a:extLst>
          </p:cNvPr>
          <p:cNvPicPr>
            <a:picLocks noChangeAspect="1"/>
          </p:cNvPicPr>
          <p:nvPr/>
        </p:nvPicPr>
        <p:blipFill>
          <a:blip r:embed="rId3"/>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E3E96D8F-02E1-520E-C592-E5F5BFD2AAB5}"/>
              </a:ext>
            </a:extLst>
          </p:cNvPr>
          <p:cNvSpPr txBox="1">
            <a:spLocks/>
          </p:cNvSpPr>
          <p:nvPr/>
        </p:nvSpPr>
        <p:spPr>
          <a:xfrm>
            <a:off x="472659" y="1054870"/>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400" b="0" dirty="0">
                <a:solidFill>
                  <a:srgbClr val="000000"/>
                </a:solidFill>
                <a:latin typeface="NVIDIA-NALA"/>
                <a:ea typeface="+mj-ea"/>
                <a:cs typeface="+mj-cs"/>
              </a:rPr>
              <a:t>Expert advice: Run your job on </a:t>
            </a:r>
            <a:r>
              <a:rPr lang="en-US" sz="1050" b="0" i="0" dirty="0">
                <a:solidFill>
                  <a:srgbClr val="E74C3C"/>
                </a:solidFill>
                <a:effectLst/>
                <a:latin typeface="SFMono-Regular"/>
              </a:rPr>
              <a:t>$TMPDIR</a:t>
            </a:r>
            <a:r>
              <a:rPr lang="en-US" sz="1400" b="0" i="0" dirty="0">
                <a:solidFill>
                  <a:srgbClr val="000000"/>
                </a:solidFill>
                <a:effectLst/>
                <a:latin typeface="NVIDIA-NALA"/>
              </a:rPr>
              <a:t> - When you store your datasets in your home directory, the read/write operation might become a bottleneck of your job. </a:t>
            </a:r>
            <a:r>
              <a:rPr lang="en-US" sz="1400" b="0" dirty="0">
                <a:solidFill>
                  <a:srgbClr val="000000"/>
                </a:solidFill>
                <a:latin typeface="NVIDIA-NALA"/>
              </a:rPr>
              <a:t>How to do it? </a:t>
            </a:r>
            <a:r>
              <a:rPr lang="en-US" sz="1400" b="0" dirty="0">
                <a:solidFill>
                  <a:srgbClr val="000000"/>
                </a:solidFill>
                <a:latin typeface="NVIDIA-NALA"/>
                <a:hlinkClick r:id="rId4"/>
              </a:rPr>
              <a:t>link</a:t>
            </a:r>
            <a:endParaRPr lang="en-US" sz="1050" b="0" i="0" dirty="0">
              <a:solidFill>
                <a:srgbClr val="E74C3C"/>
              </a:solidFill>
              <a:effectLst/>
              <a:latin typeface="SFMono-Regular"/>
            </a:endParaRPr>
          </a:p>
        </p:txBody>
      </p:sp>
      <p:pic>
        <p:nvPicPr>
          <p:cNvPr id="7" name="Picture 6">
            <a:extLst>
              <a:ext uri="{FF2B5EF4-FFF2-40B4-BE49-F238E27FC236}">
                <a16:creationId xmlns:a16="http://schemas.microsoft.com/office/drawing/2014/main" id="{2E5F2E40-0482-361A-9609-6458F1791981}"/>
              </a:ext>
            </a:extLst>
          </p:cNvPr>
          <p:cNvPicPr>
            <a:picLocks noChangeAspect="1"/>
          </p:cNvPicPr>
          <p:nvPr/>
        </p:nvPicPr>
        <p:blipFill>
          <a:blip r:embed="rId5"/>
          <a:stretch>
            <a:fillRect/>
          </a:stretch>
        </p:blipFill>
        <p:spPr>
          <a:xfrm>
            <a:off x="557214" y="1674000"/>
            <a:ext cx="7132636" cy="2930229"/>
          </a:xfrm>
          <a:prstGeom prst="rect">
            <a:avLst/>
          </a:prstGeom>
        </p:spPr>
      </p:pic>
    </p:spTree>
    <p:extLst>
      <p:ext uri="{BB962C8B-B14F-4D97-AF65-F5344CB8AC3E}">
        <p14:creationId xmlns:p14="http://schemas.microsoft.com/office/powerpoint/2010/main" val="34080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B8B1A-C445-7476-95E9-6936FB996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25D56-37B1-1170-C838-D60F94347770}"/>
              </a:ext>
            </a:extLst>
          </p:cNvPr>
          <p:cNvSpPr>
            <a:spLocks noGrp="1"/>
          </p:cNvSpPr>
          <p:nvPr>
            <p:ph type="title"/>
          </p:nvPr>
        </p:nvSpPr>
        <p:spPr>
          <a:xfrm>
            <a:off x="758825" y="518400"/>
            <a:ext cx="7556500" cy="322041"/>
          </a:xfrm>
        </p:spPr>
        <p:txBody>
          <a:bodyPr anchor="t">
            <a:normAutofit fontScale="90000"/>
          </a:bodyPr>
          <a:lstStyle/>
          <a:p>
            <a:r>
              <a:rPr lang="en-US" dirty="0"/>
              <a:t>Further learning: advices</a:t>
            </a:r>
          </a:p>
        </p:txBody>
      </p:sp>
      <p:sp>
        <p:nvSpPr>
          <p:cNvPr id="5" name="Slide Number Placeholder 4">
            <a:extLst>
              <a:ext uri="{FF2B5EF4-FFF2-40B4-BE49-F238E27FC236}">
                <a16:creationId xmlns:a16="http://schemas.microsoft.com/office/drawing/2014/main" id="{D14CEA8D-8070-568B-CF7A-06CF23459CA7}"/>
              </a:ext>
            </a:extLst>
          </p:cNvPr>
          <p:cNvSpPr>
            <a:spLocks noGrp="1"/>
          </p:cNvSpPr>
          <p:nvPr>
            <p:ph type="sldNum" sz="quarter" idx="12"/>
          </p:nvPr>
        </p:nvSpPr>
        <p:spPr>
          <a:xfrm>
            <a:off x="0" y="4516149"/>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954772F2-B730-30F5-FAA0-4DDBE3568F86}"/>
              </a:ext>
            </a:extLst>
          </p:cNvPr>
          <p:cNvPicPr>
            <a:picLocks noChangeAspect="1"/>
          </p:cNvPicPr>
          <p:nvPr/>
        </p:nvPicPr>
        <p:blipFill>
          <a:blip r:embed="rId3"/>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ED0E7CC3-F57C-0391-2A01-1763357E635F}"/>
              </a:ext>
            </a:extLst>
          </p:cNvPr>
          <p:cNvSpPr txBox="1">
            <a:spLocks/>
          </p:cNvSpPr>
          <p:nvPr/>
        </p:nvSpPr>
        <p:spPr>
          <a:xfrm>
            <a:off x="340544" y="1522655"/>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marL="171450" indent="-171450" algn="l">
              <a:lnSpc>
                <a:spcPts val="1800"/>
              </a:lnSpc>
              <a:spcAft>
                <a:spcPts val="1800"/>
              </a:spcAft>
              <a:buFont typeface="Arial" panose="020B0604020202020204" pitchFamily="34" charset="0"/>
              <a:buChar char="•"/>
            </a:pPr>
            <a:r>
              <a:rPr lang="en-US" sz="1600" b="0" dirty="0">
                <a:solidFill>
                  <a:srgbClr val="000000"/>
                </a:solidFill>
                <a:latin typeface="NVIDIA-NALA"/>
                <a:ea typeface="+mj-ea"/>
                <a:cs typeface="+mj-cs"/>
              </a:rPr>
              <a:t>Some models and datasets are already available on </a:t>
            </a:r>
            <a:r>
              <a:rPr lang="en-US" sz="1600" b="0" dirty="0" err="1">
                <a:solidFill>
                  <a:srgbClr val="000000"/>
                </a:solidFill>
                <a:latin typeface="NVIDIA-NALA"/>
                <a:ea typeface="+mj-ea"/>
                <a:cs typeface="+mj-cs"/>
              </a:rPr>
              <a:t>Snellius</a:t>
            </a:r>
            <a:r>
              <a:rPr lang="en-US" sz="1600" b="0" dirty="0">
                <a:solidFill>
                  <a:srgbClr val="000000"/>
                </a:solidFill>
                <a:latin typeface="NVIDIA-NALA"/>
                <a:ea typeface="+mj-ea"/>
                <a:cs typeface="+mj-cs"/>
              </a:rPr>
              <a:t>: </a:t>
            </a:r>
            <a:r>
              <a:rPr lang="en-US" sz="1600" b="0" dirty="0">
                <a:solidFill>
                  <a:srgbClr val="000000"/>
                </a:solidFill>
                <a:latin typeface="NVIDIA-NALA"/>
                <a:ea typeface="+mj-ea"/>
                <a:cs typeface="+mj-cs"/>
                <a:hlinkClick r:id="rId4"/>
              </a:rPr>
              <a:t>link</a:t>
            </a:r>
            <a:endParaRPr lang="en-US" sz="1600" b="0" dirty="0">
              <a:solidFill>
                <a:srgbClr val="000000"/>
              </a:solidFill>
              <a:latin typeface="NVIDIA-NALA"/>
              <a:ea typeface="+mj-ea"/>
              <a:cs typeface="+mj-cs"/>
            </a:endParaRPr>
          </a:p>
          <a:p>
            <a:pPr marL="171450" indent="-171450" algn="l">
              <a:lnSpc>
                <a:spcPts val="1800"/>
              </a:lnSpc>
              <a:spcAft>
                <a:spcPts val="1800"/>
              </a:spcAft>
              <a:buFont typeface="Arial" panose="020B0604020202020204" pitchFamily="34" charset="0"/>
              <a:buChar char="•"/>
            </a:pPr>
            <a:r>
              <a:rPr lang="en-US" sz="1600" b="0" dirty="0">
                <a:solidFill>
                  <a:srgbClr val="000000"/>
                </a:solidFill>
                <a:latin typeface="NVIDIA-NALA"/>
              </a:rPr>
              <a:t>Anaconda is not recommended on </a:t>
            </a:r>
            <a:r>
              <a:rPr lang="en-US" sz="1600" b="0" dirty="0" err="1">
                <a:solidFill>
                  <a:srgbClr val="000000"/>
                </a:solidFill>
                <a:latin typeface="NVIDIA-NALA"/>
              </a:rPr>
              <a:t>snellius</a:t>
            </a:r>
            <a:r>
              <a:rPr lang="en-US" sz="1600" b="0" dirty="0">
                <a:solidFill>
                  <a:srgbClr val="000000"/>
                </a:solidFill>
                <a:latin typeface="NVIDIA-NALA"/>
              </a:rPr>
              <a:t>: </a:t>
            </a:r>
            <a:r>
              <a:rPr lang="en-US" sz="1600" b="0" dirty="0">
                <a:solidFill>
                  <a:srgbClr val="000000"/>
                </a:solidFill>
                <a:latin typeface="NVIDIA-NALA"/>
                <a:hlinkClick r:id="rId5"/>
              </a:rPr>
              <a:t>Beware: the anaconda is squeezing us</a:t>
            </a:r>
            <a:endParaRPr lang="en-US" sz="1600" b="0" dirty="0">
              <a:solidFill>
                <a:srgbClr val="000000"/>
              </a:solidFill>
              <a:latin typeface="NVIDIA-NALA"/>
            </a:endParaRPr>
          </a:p>
          <a:p>
            <a:pPr marL="171450" indent="-171450" algn="l">
              <a:lnSpc>
                <a:spcPts val="1800"/>
              </a:lnSpc>
              <a:spcAft>
                <a:spcPts val="1800"/>
              </a:spcAft>
              <a:buFont typeface="Arial" panose="020B0604020202020204" pitchFamily="34" charset="0"/>
              <a:buChar char="•"/>
            </a:pPr>
            <a:r>
              <a:rPr lang="en-US" sz="1600" b="0" dirty="0">
                <a:solidFill>
                  <a:srgbClr val="000000"/>
                </a:solidFill>
                <a:latin typeface="NVIDIA-NALA"/>
              </a:rPr>
              <a:t>TU/e Supercomputing Center organizes a Spring and Autumn HPC School: </a:t>
            </a:r>
            <a:r>
              <a:rPr lang="en-US" sz="1600" b="0" dirty="0">
                <a:solidFill>
                  <a:srgbClr val="000000"/>
                </a:solidFill>
                <a:latin typeface="NVIDIA-NALA"/>
                <a:hlinkClick r:id="rId6"/>
              </a:rPr>
              <a:t>HPC School Events</a:t>
            </a:r>
            <a:endParaRPr lang="en-US" sz="1600" b="0" dirty="0">
              <a:solidFill>
                <a:srgbClr val="000000"/>
              </a:solidFill>
              <a:latin typeface="NVIDIA-NALA"/>
            </a:endParaRPr>
          </a:p>
          <a:p>
            <a:pPr marL="171450" indent="-171450" algn="l">
              <a:lnSpc>
                <a:spcPts val="1800"/>
              </a:lnSpc>
              <a:spcAft>
                <a:spcPts val="1800"/>
              </a:spcAft>
              <a:buFont typeface="Arial" panose="020B0604020202020204" pitchFamily="34" charset="0"/>
              <a:buChar char="•"/>
            </a:pPr>
            <a:r>
              <a:rPr lang="en-US" sz="1600" b="0" dirty="0">
                <a:solidFill>
                  <a:srgbClr val="000000"/>
                </a:solidFill>
                <a:latin typeface="NVIDIA-NALA"/>
              </a:rPr>
              <a:t>All my jobs are pending: </a:t>
            </a:r>
            <a:r>
              <a:rPr lang="en-US" sz="1600" b="0" dirty="0">
                <a:solidFill>
                  <a:srgbClr val="000000"/>
                </a:solidFill>
                <a:latin typeface="NVIDIA-NALA"/>
                <a:hlinkClick r:id="rId6"/>
              </a:rPr>
              <a:t>link</a:t>
            </a:r>
            <a:endParaRPr lang="en-US" sz="1600" b="0" dirty="0">
              <a:solidFill>
                <a:srgbClr val="000000"/>
              </a:solidFill>
              <a:latin typeface="NVIDIA-NALA"/>
            </a:endParaRPr>
          </a:p>
          <a:p>
            <a:pPr marL="171450" indent="-171450" algn="l">
              <a:lnSpc>
                <a:spcPts val="1800"/>
              </a:lnSpc>
              <a:spcAft>
                <a:spcPts val="1800"/>
              </a:spcAft>
              <a:buFont typeface="Arial" panose="020B0604020202020204" pitchFamily="34" charset="0"/>
              <a:buChar char="•"/>
            </a:pPr>
            <a:r>
              <a:rPr lang="en-US" sz="1600" i="1" dirty="0">
                <a:solidFill>
                  <a:srgbClr val="000000"/>
                </a:solidFill>
                <a:latin typeface="NVIDIA-NALA"/>
              </a:rPr>
              <a:t>More information about </a:t>
            </a:r>
            <a:r>
              <a:rPr lang="en-US" sz="1600" i="1" dirty="0" err="1">
                <a:solidFill>
                  <a:srgbClr val="000000"/>
                </a:solidFill>
                <a:latin typeface="NVIDIA-NALA"/>
              </a:rPr>
              <a:t>snellius</a:t>
            </a:r>
            <a:r>
              <a:rPr lang="en-US" sz="1600" i="1" dirty="0">
                <a:solidFill>
                  <a:srgbClr val="000000"/>
                </a:solidFill>
                <a:latin typeface="NVIDIA-NALA"/>
              </a:rPr>
              <a:t> please refer to </a:t>
            </a:r>
            <a:r>
              <a:rPr lang="en-US" sz="1600" i="1" dirty="0">
                <a:solidFill>
                  <a:srgbClr val="000000"/>
                </a:solidFill>
                <a:latin typeface="NVIDIA-NALA"/>
                <a:hlinkClick r:id="rId7"/>
              </a:rPr>
              <a:t>SURF Wiki</a:t>
            </a:r>
            <a:endParaRPr lang="en-US" sz="1600" b="0" dirty="0">
              <a:solidFill>
                <a:srgbClr val="000000"/>
              </a:solidFill>
              <a:latin typeface="NVIDIA-NALA"/>
            </a:endParaRPr>
          </a:p>
        </p:txBody>
      </p:sp>
    </p:spTree>
    <p:extLst>
      <p:ext uri="{BB962C8B-B14F-4D97-AF65-F5344CB8AC3E}">
        <p14:creationId xmlns:p14="http://schemas.microsoft.com/office/powerpoint/2010/main" val="2232103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CC39A-A28A-BC07-7098-E6AB4B774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812E9-3E29-83B4-0831-8A2755211AFE}"/>
              </a:ext>
            </a:extLst>
          </p:cNvPr>
          <p:cNvSpPr>
            <a:spLocks noGrp="1"/>
          </p:cNvSpPr>
          <p:nvPr>
            <p:ph type="title"/>
          </p:nvPr>
        </p:nvSpPr>
        <p:spPr>
          <a:xfrm>
            <a:off x="758825" y="518400"/>
            <a:ext cx="7556500" cy="322041"/>
          </a:xfrm>
        </p:spPr>
        <p:txBody>
          <a:bodyPr anchor="t">
            <a:normAutofit fontScale="90000"/>
          </a:bodyPr>
          <a:lstStyle/>
          <a:p>
            <a:r>
              <a:rPr lang="en-US" dirty="0"/>
              <a:t>Feel free to reach out</a:t>
            </a:r>
          </a:p>
        </p:txBody>
      </p:sp>
      <p:sp>
        <p:nvSpPr>
          <p:cNvPr id="5" name="Slide Number Placeholder 4">
            <a:extLst>
              <a:ext uri="{FF2B5EF4-FFF2-40B4-BE49-F238E27FC236}">
                <a16:creationId xmlns:a16="http://schemas.microsoft.com/office/drawing/2014/main" id="{7FE71AAD-6597-7553-DF18-66E7BF1BCDE0}"/>
              </a:ext>
            </a:extLst>
          </p:cNvPr>
          <p:cNvSpPr>
            <a:spLocks noGrp="1"/>
          </p:cNvSpPr>
          <p:nvPr>
            <p:ph type="sldNum" sz="quarter" idx="12"/>
          </p:nvPr>
        </p:nvSpPr>
        <p:spPr>
          <a:xfrm>
            <a:off x="0" y="4468373"/>
            <a:ext cx="1114424" cy="572286"/>
          </a:xfrm>
        </p:spPr>
        <p:txBody>
          <a:bodyPr anchor="ctr">
            <a:normAutofit/>
          </a:bodyPr>
          <a:lstStyle/>
          <a:p>
            <a:pPr>
              <a:spcAft>
                <a:spcPts val="600"/>
              </a:spcAft>
            </a:pPr>
            <a:r>
              <a:rPr lang="en-GB"/>
              <a:t> </a:t>
            </a:r>
          </a:p>
        </p:txBody>
      </p:sp>
      <p:pic>
        <p:nvPicPr>
          <p:cNvPr id="12" name="Picture 11">
            <a:extLst>
              <a:ext uri="{FF2B5EF4-FFF2-40B4-BE49-F238E27FC236}">
                <a16:creationId xmlns:a16="http://schemas.microsoft.com/office/drawing/2014/main" id="{E12B6584-B1E5-CBCB-B642-49EC872D8A63}"/>
              </a:ext>
            </a:extLst>
          </p:cNvPr>
          <p:cNvPicPr>
            <a:picLocks noChangeAspect="1"/>
          </p:cNvPicPr>
          <p:nvPr/>
        </p:nvPicPr>
        <p:blipFill>
          <a:blip r:embed="rId3"/>
          <a:stretch>
            <a:fillRect/>
          </a:stretch>
        </p:blipFill>
        <p:spPr>
          <a:xfrm>
            <a:off x="813547" y="4468373"/>
            <a:ext cx="8330451" cy="200053"/>
          </a:xfrm>
          <a:prstGeom prst="rect">
            <a:avLst/>
          </a:prstGeom>
        </p:spPr>
      </p:pic>
      <p:sp>
        <p:nvSpPr>
          <p:cNvPr id="3" name="Title 1">
            <a:extLst>
              <a:ext uri="{FF2B5EF4-FFF2-40B4-BE49-F238E27FC236}">
                <a16:creationId xmlns:a16="http://schemas.microsoft.com/office/drawing/2014/main" id="{F56FC1E2-829D-39F7-C03F-2CA6CF0AAA94}"/>
              </a:ext>
            </a:extLst>
          </p:cNvPr>
          <p:cNvSpPr txBox="1">
            <a:spLocks/>
          </p:cNvSpPr>
          <p:nvPr/>
        </p:nvSpPr>
        <p:spPr>
          <a:xfrm>
            <a:off x="472659" y="1054870"/>
            <a:ext cx="8462911" cy="3279637"/>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lgn="l">
              <a:lnSpc>
                <a:spcPts val="1800"/>
              </a:lnSpc>
              <a:spcAft>
                <a:spcPts val="1800"/>
              </a:spcAft>
            </a:pPr>
            <a:endParaRPr lang="en-US" sz="1400" b="0" dirty="0">
              <a:solidFill>
                <a:srgbClr val="000000"/>
              </a:solidFill>
              <a:latin typeface="NVIDIA-NALA"/>
            </a:endParaRPr>
          </a:p>
        </p:txBody>
      </p:sp>
      <p:pic>
        <p:nvPicPr>
          <p:cNvPr id="8" name="Picture 7">
            <a:extLst>
              <a:ext uri="{FF2B5EF4-FFF2-40B4-BE49-F238E27FC236}">
                <a16:creationId xmlns:a16="http://schemas.microsoft.com/office/drawing/2014/main" id="{9F02E779-C5D2-A793-9280-D5D6B9CF26CB}"/>
              </a:ext>
            </a:extLst>
          </p:cNvPr>
          <p:cNvPicPr>
            <a:picLocks noChangeAspect="1"/>
          </p:cNvPicPr>
          <p:nvPr/>
        </p:nvPicPr>
        <p:blipFill>
          <a:blip r:embed="rId4"/>
          <a:stretch>
            <a:fillRect/>
          </a:stretch>
        </p:blipFill>
        <p:spPr>
          <a:xfrm>
            <a:off x="1064292" y="1539550"/>
            <a:ext cx="2155825" cy="2162713"/>
          </a:xfrm>
          <a:prstGeom prst="rect">
            <a:avLst/>
          </a:prstGeom>
        </p:spPr>
      </p:pic>
      <p:sp>
        <p:nvSpPr>
          <p:cNvPr id="9" name="Title 1">
            <a:extLst>
              <a:ext uri="{FF2B5EF4-FFF2-40B4-BE49-F238E27FC236}">
                <a16:creationId xmlns:a16="http://schemas.microsoft.com/office/drawing/2014/main" id="{9CEC1341-312B-1EF1-E461-DA7A4A1B9433}"/>
              </a:ext>
            </a:extLst>
          </p:cNvPr>
          <p:cNvSpPr txBox="1">
            <a:spLocks/>
          </p:cNvSpPr>
          <p:nvPr/>
        </p:nvSpPr>
        <p:spPr>
          <a:xfrm>
            <a:off x="3811750" y="2120398"/>
            <a:ext cx="5201770" cy="1148580"/>
          </a:xfrm>
          <a:prstGeom prst="rect">
            <a:avLst/>
          </a:prstGeom>
        </p:spPr>
        <p:txBody>
          <a:bodyPr vert="horz" lIns="0" tIns="0" rIns="0" bIns="0" rtlCol="0" anchor="t" anchorCtr="0">
            <a:noAutofit/>
          </a:bodyPr>
          <a:lstStyle>
            <a:lvl1pPr algn="l" defTabSz="685800" rtl="0" eaLnBrk="1" latinLnBrk="0" hangingPunct="1">
              <a:lnSpc>
                <a:spcPts val="2700"/>
              </a:lnSpc>
              <a:spcBef>
                <a:spcPct val="0"/>
              </a:spcBef>
              <a:buNone/>
              <a:defRPr sz="2700" b="1" kern="1200" baseline="0">
                <a:solidFill>
                  <a:schemeClr val="tx1"/>
                </a:solidFill>
                <a:latin typeface="+mj-lt"/>
                <a:ea typeface="+mj-ea"/>
                <a:cs typeface="+mj-cs"/>
              </a:defRPr>
            </a:lvl1pPr>
          </a:lstStyle>
          <a:p>
            <a:pPr algn="l">
              <a:lnSpc>
                <a:spcPts val="1800"/>
              </a:lnSpc>
              <a:spcAft>
                <a:spcPts val="1800"/>
              </a:spcAft>
            </a:pPr>
            <a:r>
              <a:rPr lang="en-US" sz="1400" b="0" dirty="0">
                <a:solidFill>
                  <a:srgbClr val="000000"/>
                </a:solidFill>
                <a:latin typeface="NVIDIA-NALA"/>
                <a:hlinkClick r:id="rId5"/>
              </a:rPr>
              <a:t>https://supercomputing.tue.nl/</a:t>
            </a:r>
            <a:endParaRPr lang="en-US" sz="1400" b="0" dirty="0">
              <a:solidFill>
                <a:srgbClr val="000000"/>
              </a:solidFill>
              <a:latin typeface="NVIDIA-NALA"/>
            </a:endParaRPr>
          </a:p>
          <a:p>
            <a:pPr algn="l">
              <a:lnSpc>
                <a:spcPts val="1800"/>
              </a:lnSpc>
              <a:spcAft>
                <a:spcPts val="1800"/>
              </a:spcAft>
            </a:pPr>
            <a:r>
              <a:rPr lang="en-US" sz="1400" dirty="0">
                <a:solidFill>
                  <a:srgbClr val="000000"/>
                </a:solidFill>
                <a:latin typeface="NVIDIA-NALA"/>
              </a:rPr>
              <a:t>Email: hpcsupport@tue.nl (we will help you!)</a:t>
            </a:r>
          </a:p>
        </p:txBody>
      </p:sp>
    </p:spTree>
    <p:extLst>
      <p:ext uri="{BB962C8B-B14F-4D97-AF65-F5344CB8AC3E}">
        <p14:creationId xmlns:p14="http://schemas.microsoft.com/office/powerpoint/2010/main" val="2956716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FormConfiguration><![CDATA[{"formFields":[],"formDataEntries":[]}]]></TemplafyForm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TemplateConfiguration><![CDATA[{"elementsMetadata":[],"transformationConfigurations":[],"templateName":"Blank","templateDescription":"","enableDocumentContentUpdater":false,"version":"2.0"}]]></TemplafyTemplateConfiguration>
</file>

<file path=customXml/item4.xml><?xml version="1.0" encoding="utf-8"?>
<p:properties xmlns:p="http://schemas.microsoft.com/office/2006/metadata/properties" xmlns:xsi="http://www.w3.org/2001/XMLSchema-instance" xmlns:pc="http://schemas.microsoft.com/office/infopath/2007/PartnerControls">
  <documentManagement>
    <SharedWithUsers xmlns="17a103dd-c6c6-4f6b-8344-3d0a11b3d4ea">
      <UserInfo>
        <DisplayName>Parker, Ben</DisplayName>
        <AccountId>17</AccountId>
        <AccountType/>
      </UserInfo>
    </SharedWithUsers>
    <lcf76f155ced4ddcb4097134ff3c332f xmlns="48a31b55-7205-4a70-bc99-25902601dc40">
      <Terms xmlns="http://schemas.microsoft.com/office/infopath/2007/PartnerControls"/>
    </lcf76f155ced4ddcb4097134ff3c332f>
    <TaxCatchAll xmlns="17a103dd-c6c6-4f6b-8344-3d0a11b3d4ea" xsi:nil="true"/>
    <Comments xmlns="48a31b55-7205-4a70-bc99-25902601dc40" xsi:nil="true"/>
  </documentManagement>
</p:properties>
</file>

<file path=customXml/item5.xml><?xml version="1.0" encoding="utf-8"?>
<ct:contentTypeSchema xmlns:ct="http://schemas.microsoft.com/office/2006/metadata/contentType" xmlns:ma="http://schemas.microsoft.com/office/2006/metadata/properties/metaAttributes" ct:_="" ma:_="" ma:contentTypeName="Document" ma:contentTypeID="0x01010066D88153EF9B14409699E16CC4469416" ma:contentTypeVersion="19" ma:contentTypeDescription="Create a new document." ma:contentTypeScope="" ma:versionID="894d09a0c6f861b6e1d111423247669b">
  <xsd:schema xmlns:xsd="http://www.w3.org/2001/XMLSchema" xmlns:xs="http://www.w3.org/2001/XMLSchema" xmlns:p="http://schemas.microsoft.com/office/2006/metadata/properties" xmlns:ns2="48a31b55-7205-4a70-bc99-25902601dc40" xmlns:ns3="17a103dd-c6c6-4f6b-8344-3d0a11b3d4ea" targetNamespace="http://schemas.microsoft.com/office/2006/metadata/properties" ma:root="true" ma:fieldsID="36f56c41fbed92ec500ad4482bed1e7a" ns2:_="" ns3:_="">
    <xsd:import namespace="48a31b55-7205-4a70-bc99-25902601dc40"/>
    <xsd:import namespace="17a103dd-c6c6-4f6b-8344-3d0a11b3d4e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Comment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a31b55-7205-4a70-bc99-25902601dc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Comments" ma:index="19" nillable="true" ma:displayName="Comments" ma:format="Dropdown" ma:internalName="Comments">
      <xsd:simpleType>
        <xsd:restriction base="dms:Text">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5f80264a-99e7-47cd-820c-3e92ce78c5e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7a103dd-c6c6-4f6b-8344-3d0a11b3d4e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15f5352-ca6f-410d-af73-b06f0535587e}" ma:internalName="TaxCatchAll" ma:showField="CatchAllData" ma:web="17a103dd-c6c6-4f6b-8344-3d0a11b3d4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638222587218092708","enableDocumentContentUpdater":false,"version":"2.0"}]]></TemplafySlideTemplateConfiguration>
</file>

<file path=customXml/itemProps1.xml><?xml version="1.0" encoding="utf-8"?>
<ds:datastoreItem xmlns:ds="http://schemas.openxmlformats.org/officeDocument/2006/customXml" ds:itemID="{E0ED8365-8825-494B-B614-D5E91C3DC17E}">
  <ds:schemaRefs/>
</ds:datastoreItem>
</file>

<file path=customXml/itemProps2.xml><?xml version="1.0" encoding="utf-8"?>
<ds:datastoreItem xmlns:ds="http://schemas.openxmlformats.org/officeDocument/2006/customXml" ds:itemID="{2FE51D35-A013-4AA3-97FC-143F24329CDC}">
  <ds:schemaRefs>
    <ds:schemaRef ds:uri="http://schemas.microsoft.com/sharepoint/v3/contenttype/forms"/>
  </ds:schemaRefs>
</ds:datastoreItem>
</file>

<file path=customXml/itemProps3.xml><?xml version="1.0" encoding="utf-8"?>
<ds:datastoreItem xmlns:ds="http://schemas.openxmlformats.org/officeDocument/2006/customXml" ds:itemID="{E8F54406-4683-4431-A94A-6162F25F06E4}">
  <ds:schemaRefs/>
</ds:datastoreItem>
</file>

<file path=customXml/itemProps4.xml><?xml version="1.0" encoding="utf-8"?>
<ds:datastoreItem xmlns:ds="http://schemas.openxmlformats.org/officeDocument/2006/customXml" ds:itemID="{EDF6089B-2FA3-4235-8DEA-E2B2FD7027CD}">
  <ds:schemaRefs>
    <ds:schemaRef ds:uri="http://www.w3.org/XML/1998/namespace"/>
    <ds:schemaRef ds:uri="http://schemas.openxmlformats.org/package/2006/metadata/core-properties"/>
    <ds:schemaRef ds:uri="http://purl.org/dc/terms/"/>
    <ds:schemaRef ds:uri="http://purl.org/dc/elements/1.1/"/>
    <ds:schemaRef ds:uri="17a103dd-c6c6-4f6b-8344-3d0a11b3d4ea"/>
    <ds:schemaRef ds:uri="http://schemas.microsoft.com/office/2006/metadata/properties"/>
    <ds:schemaRef ds:uri="http://schemas.microsoft.com/office/infopath/2007/PartnerControls"/>
    <ds:schemaRef ds:uri="http://schemas.microsoft.com/office/2006/documentManagement/types"/>
    <ds:schemaRef ds:uri="http://purl.org/dc/dcmitype/"/>
    <ds:schemaRef ds:uri="48a31b55-7205-4a70-bc99-25902601dc40"/>
  </ds:schemaRefs>
</ds:datastoreItem>
</file>

<file path=customXml/itemProps5.xml><?xml version="1.0" encoding="utf-8"?>
<ds:datastoreItem xmlns:ds="http://schemas.openxmlformats.org/officeDocument/2006/customXml" ds:itemID="{CA55F67C-071B-4F22-BEF9-D96428E6D9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a31b55-7205-4a70-bc99-25902601dc40"/>
    <ds:schemaRef ds:uri="17a103dd-c6c6-4f6b-8344-3d0a11b3d4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B1FCEB84-E586-4B78-8682-7EEC6FF64A70}">
  <ds:schemaRefs/>
</ds:datastoreItem>
</file>

<file path=customXml/itemProps7.xml><?xml version="1.0" encoding="utf-8"?>
<ds:datastoreItem xmlns:ds="http://schemas.openxmlformats.org/officeDocument/2006/customXml" ds:itemID="{088FFB55-2F84-4314-9DDE-8CB203B2C007}">
  <ds:schemaRefs/>
</ds:datastoreItem>
</file>

<file path=docProps/app.xml><?xml version="1.0" encoding="utf-8"?>
<Properties xmlns="http://schemas.openxmlformats.org/officeDocument/2006/extended-properties" xmlns:vt="http://schemas.openxmlformats.org/officeDocument/2006/docPropsVTypes">
  <Template>D51D98FD</Template>
  <TotalTime>0</TotalTime>
  <Words>1477</Words>
  <Application>Microsoft Office PowerPoint</Application>
  <PresentationFormat>On-screen Show (16:9)</PresentationFormat>
  <Paragraphs>210</Paragraphs>
  <Slides>23</Slides>
  <Notes>5</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Unicode MS</vt:lpstr>
      <vt:lpstr>Calibri</vt:lpstr>
      <vt:lpstr>Courier New</vt:lpstr>
      <vt:lpstr>NVIDIA-NALA</vt:lpstr>
      <vt:lpstr>SFMono-Regular</vt:lpstr>
      <vt:lpstr>Wingdings</vt:lpstr>
      <vt:lpstr>Kantoorthema</vt:lpstr>
      <vt:lpstr>How to use Snellius</vt:lpstr>
      <vt:lpstr>Agenda</vt:lpstr>
      <vt:lpstr>Introduction to Snellius</vt:lpstr>
      <vt:lpstr>What is a supercomputer?</vt:lpstr>
      <vt:lpstr>Using a supercomputer</vt:lpstr>
      <vt:lpstr>Using a supercomputer</vt:lpstr>
      <vt:lpstr>Access to Snellius login nodes</vt:lpstr>
      <vt:lpstr>Access to Snellius compute nodes</vt:lpstr>
      <vt:lpstr>Login node</vt:lpstr>
      <vt:lpstr>Login node - Exercise</vt:lpstr>
      <vt:lpstr>Data transfer</vt:lpstr>
      <vt:lpstr>Data transfer - Exercise</vt:lpstr>
      <vt:lpstr>Use of library</vt:lpstr>
      <vt:lpstr>Use of library - exercise</vt:lpstr>
      <vt:lpstr>Use of library – what if the library is not available?</vt:lpstr>
      <vt:lpstr>Submit your jobs on Snellius</vt:lpstr>
      <vt:lpstr>Submit your jobs on Snellius - exercise</vt:lpstr>
      <vt:lpstr>Submit your jobs on Snellius – job arguments</vt:lpstr>
      <vt:lpstr>Use Jupyter notebooks</vt:lpstr>
      <vt:lpstr>Final exercise</vt:lpstr>
      <vt:lpstr>Further learning: speed up your training with scratch node</vt:lpstr>
      <vt:lpstr>Further learning: advices</vt:lpstr>
      <vt:lpstr>Feel free to reach 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ROADMAPS</dc:title>
  <dc:creator/>
  <cp:lastModifiedBy/>
  <cp:revision>51</cp:revision>
  <dcterms:created xsi:type="dcterms:W3CDTF">2024-04-22T13:47:39Z</dcterms:created>
  <dcterms:modified xsi:type="dcterms:W3CDTF">2024-12-15T16:59:30Z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2023-06-13T13:12:01</vt:lpwstr>
  </property>
  <property fmtid="{D5CDD505-2E9C-101B-9397-08002B2CF9AE}" pid="3" name="TemplafyTenantId">
    <vt:lpwstr>tue</vt:lpwstr>
  </property>
  <property fmtid="{D5CDD505-2E9C-101B-9397-08002B2CF9AE}" pid="4" name="TemplafyTemplateId">
    <vt:lpwstr>638222587206785791</vt:lpwstr>
  </property>
  <property fmtid="{D5CDD505-2E9C-101B-9397-08002B2CF9AE}" pid="5" name="TemplafyUserProfileId">
    <vt:lpwstr>785525347795599548</vt:lpwstr>
  </property>
  <property fmtid="{D5CDD505-2E9C-101B-9397-08002B2CF9AE}" pid="6" name="TemplafyLanguageCode">
    <vt:lpwstr>nl-NL</vt:lpwstr>
  </property>
  <property fmtid="{D5CDD505-2E9C-101B-9397-08002B2CF9AE}" pid="7" name="TemplafyFromBlank">
    <vt:bool>true</vt:bool>
  </property>
  <property fmtid="{D5CDD505-2E9C-101B-9397-08002B2CF9AE}" pid="8" name="ContentTypeId">
    <vt:lpwstr>0x01010066D88153EF9B14409699E16CC4469416</vt:lpwstr>
  </property>
  <property fmtid="{D5CDD505-2E9C-101B-9397-08002B2CF9AE}" pid="9" name="MediaServiceImageTags">
    <vt:lpwstr/>
  </property>
</Properties>
</file>